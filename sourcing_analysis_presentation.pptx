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9FAFB"/>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9FAFB"/>
          </a:solidFill>
          <a:ln w="12700">
            <a:solidFill>
              <a:srgbClr val="F9FAFB">
                <a:alpha val="0"/>
              </a:srgbClr>
            </a:solidFill>
            <a:prstDash val="solid"/>
          </a:ln>
        </p:spPr>
      </p:sp>
      <p:sp>
        <p:nvSpPr>
          <p:cNvPr id="3" name="Shape 1"/>
          <p:cNvSpPr/>
          <p:nvPr/>
        </p:nvSpPr>
        <p:spPr>
          <a:xfrm>
            <a:off x="0" y="0"/>
            <a:ext cx="12191695" cy="109728"/>
          </a:xfrm>
          <a:prstGeom prst="rect">
            <a:avLst/>
          </a:prstGeom>
          <a:solidFill>
            <a:srgbClr val="2563EB"/>
          </a:solidFill>
          <a:ln w="12700">
            <a:solidFill>
              <a:srgbClr val="2563EB"/>
            </a:solidFill>
            <a:prstDash val="solid"/>
          </a:ln>
        </p:spPr>
      </p:sp>
      <p:sp>
        <p:nvSpPr>
          <p:cNvPr id="4" name="Text 2"/>
          <p:cNvSpPr/>
          <p:nvPr/>
        </p:nvSpPr>
        <p:spPr>
          <a:xfrm>
            <a:off x="502920" y="6510528"/>
            <a:ext cx="7132320" cy="164592"/>
          </a:xfrm>
          <a:prstGeom prst="rect">
            <a:avLst/>
          </a:prstGeom>
          <a:noFill/>
          <a:ln/>
        </p:spPr>
        <p:txBody>
          <a:bodyPr wrap="square" lIns="0" tIns="0" rIns="0" bIns="0" rtlCol="0" anchor="ctr"/>
          <a:lstStyle/>
          <a:p>
            <a:pPr indent="0" marL="0">
              <a:buNone/>
            </a:pPr>
            <a:r>
              <a:rPr lang="en-US" sz="700" dirty="0">
                <a:solidFill>
                  <a:srgbClr val="6B7280"/>
                </a:solidFill>
                <a:latin typeface="Aptos" pitchFamily="34" charset="0"/>
                <a:ea typeface="Aptos" pitchFamily="34" charset="-122"/>
                <a:cs typeface="Aptos" pitchFamily="34" charset="-120"/>
              </a:rPr>
              <a:t>Sourcing Analysis with AI  |  Recruiter decision-support view</a:t>
            </a:r>
            <a:endParaRPr lang="en-US" sz="700" dirty="0"/>
          </a:p>
        </p:txBody>
      </p:sp>
      <p:sp>
        <p:nvSpPr>
          <p:cNvPr id="5" name="Text 3"/>
          <p:cNvSpPr/>
          <p:nvPr/>
        </p:nvSpPr>
        <p:spPr>
          <a:xfrm>
            <a:off x="10424160" y="6510528"/>
            <a:ext cx="1280160" cy="164592"/>
          </a:xfrm>
          <a:prstGeom prst="rect">
            <a:avLst/>
          </a:prstGeom>
          <a:noFill/>
          <a:ln/>
        </p:spPr>
        <p:txBody>
          <a:bodyPr wrap="square" lIns="0" tIns="0" rIns="0" bIns="0" rtlCol="0" anchor="ctr"/>
          <a:lstStyle/>
          <a:p>
            <a:pPr algn="r" indent="0" marL="0">
              <a:buNone/>
            </a:pPr>
            <a:r>
              <a:rPr lang="en-US" sz="700" dirty="0">
                <a:solidFill>
                  <a:srgbClr val="6B7280"/>
                </a:solidFill>
                <a:latin typeface="Aptos" pitchFamily="34" charset="0"/>
                <a:ea typeface="Aptos" pitchFamily="34" charset="-122"/>
                <a:cs typeface="Aptos" pitchFamily="34" charset="-120"/>
              </a:rPr>
              <a:t>Fictional dataset</a:t>
            </a:r>
            <a:endParaRPr lang="en-US" sz="700" dirty="0"/>
          </a:p>
        </p:txBody>
      </p:sp>
      <p:sp>
        <p:nvSpPr>
          <p:cNvPr id="6" name="Text 4"/>
          <p:cNvSpPr/>
          <p:nvPr/>
        </p:nvSpPr>
        <p:spPr>
          <a:xfrm>
            <a:off x="685800" y="960120"/>
            <a:ext cx="5029200" cy="1371600"/>
          </a:xfrm>
          <a:prstGeom prst="rect">
            <a:avLst/>
          </a:prstGeom>
          <a:noFill/>
          <a:ln/>
        </p:spPr>
        <p:txBody>
          <a:bodyPr wrap="square" lIns="0" tIns="0" rIns="0" bIns="0" rtlCol="0" anchor="ctr">
            <a:normAutofit/>
          </a:bodyPr>
          <a:lstStyle/>
          <a:p>
            <a:pPr indent="0" marL="0">
              <a:buNone/>
            </a:pPr>
            <a:r>
              <a:rPr lang="en-US" sz="3900" b="1" dirty="0">
                <a:solidFill>
                  <a:srgbClr val="111827"/>
                </a:solidFill>
                <a:latin typeface="Aptos Display" pitchFamily="34" charset="0"/>
                <a:ea typeface="Aptos Display" pitchFamily="34" charset="-122"/>
                <a:cs typeface="Aptos Display" pitchFamily="34" charset="-120"/>
              </a:rPr>
              <a:t>Sourcing Analysis</a:t>
            </a:r>
            <a:endParaRPr lang="en-US" sz="3900" dirty="0"/>
          </a:p>
          <a:p>
            <a:pPr indent="0" marL="0">
              <a:buNone/>
            </a:pPr>
            <a:r>
              <a:rPr lang="en-US" sz="3900" b="1" dirty="0">
                <a:solidFill>
                  <a:srgbClr val="111827"/>
                </a:solidFill>
                <a:latin typeface="Aptos Display" pitchFamily="34" charset="0"/>
                <a:ea typeface="Aptos Display" pitchFamily="34" charset="-122"/>
                <a:cs typeface="Aptos Display" pitchFamily="34" charset="-120"/>
              </a:rPr>
              <a:t>with AI</a:t>
            </a:r>
            <a:endParaRPr lang="en-US" sz="3900" dirty="0"/>
          </a:p>
        </p:txBody>
      </p:sp>
      <p:sp>
        <p:nvSpPr>
          <p:cNvPr id="7" name="Text 5"/>
          <p:cNvSpPr/>
          <p:nvPr/>
        </p:nvSpPr>
        <p:spPr>
          <a:xfrm>
            <a:off x="713232" y="2578608"/>
            <a:ext cx="5577840" cy="502920"/>
          </a:xfrm>
          <a:prstGeom prst="rect">
            <a:avLst/>
          </a:prstGeom>
          <a:noFill/>
          <a:ln/>
        </p:spPr>
        <p:txBody>
          <a:bodyPr wrap="square" lIns="0" tIns="0" rIns="0" bIns="0" rtlCol="0" anchor="ctr">
            <a:normAutofit/>
          </a:bodyPr>
          <a:lstStyle/>
          <a:p>
            <a:pPr indent="0" marL="0">
              <a:buNone/>
            </a:pPr>
            <a:r>
              <a:rPr lang="en-US" sz="1700" dirty="0">
                <a:solidFill>
                  <a:srgbClr val="374151"/>
                </a:solidFill>
                <a:latin typeface="Aptos" pitchFamily="34" charset="0"/>
                <a:ea typeface="Aptos" pitchFamily="34" charset="-122"/>
                <a:cs typeface="Aptos" pitchFamily="34" charset="-120"/>
              </a:rPr>
              <a:t>A recruiter decision-support project using funnel data, conversion patterns, and AI-assisted qualitative tagging.</a:t>
            </a:r>
            <a:endParaRPr lang="en-US" sz="1700" dirty="0"/>
          </a:p>
        </p:txBody>
      </p:sp>
      <p:sp>
        <p:nvSpPr>
          <p:cNvPr id="8" name="Shape 6"/>
          <p:cNvSpPr/>
          <p:nvPr/>
        </p:nvSpPr>
        <p:spPr>
          <a:xfrm>
            <a:off x="6903720" y="822960"/>
            <a:ext cx="0" cy="5212080"/>
          </a:xfrm>
          <a:prstGeom prst="line">
            <a:avLst/>
          </a:prstGeom>
          <a:noFill/>
          <a:ln w="12700">
            <a:solidFill>
              <a:srgbClr val="E5E7EB"/>
            </a:solidFill>
            <a:prstDash val="solid"/>
          </a:ln>
        </p:spPr>
      </p:sp>
      <p:sp>
        <p:nvSpPr>
          <p:cNvPr id="9" name="Text 7"/>
          <p:cNvSpPr/>
          <p:nvPr/>
        </p:nvSpPr>
        <p:spPr>
          <a:xfrm>
            <a:off x="7360920" y="1060704"/>
            <a:ext cx="3200400" cy="384048"/>
          </a:xfrm>
          <a:prstGeom prst="rect">
            <a:avLst/>
          </a:prstGeom>
          <a:noFill/>
          <a:ln/>
        </p:spPr>
        <p:txBody>
          <a:bodyPr wrap="square" lIns="0" tIns="0" rIns="0" bIns="0" rtlCol="0" anchor="ctr">
            <a:normAutofit/>
          </a:bodyPr>
          <a:lstStyle/>
          <a:p>
            <a:pPr indent="0" marL="0">
              <a:buNone/>
            </a:pPr>
            <a:r>
              <a:rPr lang="en-US" sz="2600" b="1" dirty="0">
                <a:solidFill>
                  <a:srgbClr val="2563EB"/>
                </a:solidFill>
                <a:latin typeface="Aptos Display" pitchFamily="34" charset="0"/>
                <a:ea typeface="Aptos Display" pitchFamily="34" charset="-122"/>
                <a:cs typeface="Aptos Display" pitchFamily="34" charset="-120"/>
              </a:rPr>
              <a:t>601</a:t>
            </a:r>
            <a:endParaRPr lang="en-US" sz="2600" dirty="0"/>
          </a:p>
        </p:txBody>
      </p:sp>
      <p:sp>
        <p:nvSpPr>
          <p:cNvPr id="10" name="Text 8"/>
          <p:cNvSpPr/>
          <p:nvPr/>
        </p:nvSpPr>
        <p:spPr>
          <a:xfrm>
            <a:off x="7360920" y="1545336"/>
            <a:ext cx="3200400" cy="292608"/>
          </a:xfrm>
          <a:prstGeom prst="rect">
            <a:avLst/>
          </a:prstGeom>
          <a:noFill/>
          <a:ln/>
        </p:spPr>
        <p:txBody>
          <a:bodyPr wrap="square" lIns="0" tIns="0" rIns="0" bIns="0" rtlCol="0" anchor="ctr">
            <a:normAutofit/>
          </a:bodyPr>
          <a:lstStyle/>
          <a:p>
            <a:pPr indent="0" marL="0">
              <a:buNone/>
            </a:pPr>
            <a:r>
              <a:rPr lang="en-US" sz="950" dirty="0">
                <a:solidFill>
                  <a:srgbClr val="374151"/>
                </a:solidFill>
                <a:latin typeface="Aptos" pitchFamily="34" charset="0"/>
                <a:ea typeface="Aptos" pitchFamily="34" charset="-122"/>
                <a:cs typeface="Aptos" pitchFamily="34" charset="-120"/>
              </a:rPr>
              <a:t>candidates analyzed</a:t>
            </a:r>
            <a:endParaRPr lang="en-US" sz="950" dirty="0"/>
          </a:p>
        </p:txBody>
      </p:sp>
      <p:sp>
        <p:nvSpPr>
          <p:cNvPr id="11" name="Text 9"/>
          <p:cNvSpPr/>
          <p:nvPr/>
        </p:nvSpPr>
        <p:spPr>
          <a:xfrm>
            <a:off x="7360920" y="2395728"/>
            <a:ext cx="3200400" cy="384048"/>
          </a:xfrm>
          <a:prstGeom prst="rect">
            <a:avLst/>
          </a:prstGeom>
          <a:noFill/>
          <a:ln/>
        </p:spPr>
        <p:txBody>
          <a:bodyPr wrap="square" lIns="0" tIns="0" rIns="0" bIns="0" rtlCol="0" anchor="ctr">
            <a:normAutofit/>
          </a:bodyPr>
          <a:lstStyle/>
          <a:p>
            <a:pPr indent="0" marL="0">
              <a:buNone/>
            </a:pPr>
            <a:r>
              <a:rPr lang="en-US" sz="2600" b="1" dirty="0">
                <a:solidFill>
                  <a:srgbClr val="16A34A"/>
                </a:solidFill>
                <a:latin typeface="Aptos Display" pitchFamily="34" charset="0"/>
                <a:ea typeface="Aptos Display" pitchFamily="34" charset="-122"/>
                <a:cs typeface="Aptos Display" pitchFamily="34" charset="-120"/>
              </a:rPr>
              <a:t>8.2%</a:t>
            </a:r>
            <a:endParaRPr lang="en-US" sz="2600" dirty="0"/>
          </a:p>
        </p:txBody>
      </p:sp>
      <p:sp>
        <p:nvSpPr>
          <p:cNvPr id="12" name="Text 10"/>
          <p:cNvSpPr/>
          <p:nvPr/>
        </p:nvSpPr>
        <p:spPr>
          <a:xfrm>
            <a:off x="7360920" y="2880360"/>
            <a:ext cx="3200400" cy="292608"/>
          </a:xfrm>
          <a:prstGeom prst="rect">
            <a:avLst/>
          </a:prstGeom>
          <a:noFill/>
          <a:ln/>
        </p:spPr>
        <p:txBody>
          <a:bodyPr wrap="square" lIns="0" tIns="0" rIns="0" bIns="0" rtlCol="0" anchor="ctr">
            <a:normAutofit/>
          </a:bodyPr>
          <a:lstStyle/>
          <a:p>
            <a:pPr indent="0" marL="0">
              <a:buNone/>
            </a:pPr>
            <a:r>
              <a:rPr lang="en-US" sz="950" dirty="0">
                <a:solidFill>
                  <a:srgbClr val="374151"/>
                </a:solidFill>
                <a:latin typeface="Aptos" pitchFamily="34" charset="0"/>
                <a:ea typeface="Aptos" pitchFamily="34" charset="-122"/>
                <a:cs typeface="Aptos" pitchFamily="34" charset="-120"/>
              </a:rPr>
              <a:t>final hired rate</a:t>
            </a:r>
            <a:endParaRPr lang="en-US" sz="950" dirty="0"/>
          </a:p>
        </p:txBody>
      </p:sp>
      <p:sp>
        <p:nvSpPr>
          <p:cNvPr id="13" name="Text 11"/>
          <p:cNvSpPr/>
          <p:nvPr/>
        </p:nvSpPr>
        <p:spPr>
          <a:xfrm>
            <a:off x="7360920" y="3730752"/>
            <a:ext cx="3200400" cy="384048"/>
          </a:xfrm>
          <a:prstGeom prst="rect">
            <a:avLst/>
          </a:prstGeom>
          <a:noFill/>
          <a:ln/>
        </p:spPr>
        <p:txBody>
          <a:bodyPr wrap="square" lIns="0" tIns="0" rIns="0" bIns="0" rtlCol="0" anchor="ctr">
            <a:normAutofit/>
          </a:bodyPr>
          <a:lstStyle/>
          <a:p>
            <a:pPr indent="0" marL="0">
              <a:buNone/>
            </a:pPr>
            <a:r>
              <a:rPr lang="en-US" sz="2600" b="1" dirty="0">
                <a:solidFill>
                  <a:srgbClr val="F97316"/>
                </a:solidFill>
                <a:latin typeface="Aptos Display" pitchFamily="34" charset="0"/>
                <a:ea typeface="Aptos Display" pitchFamily="34" charset="-122"/>
                <a:cs typeface="Aptos Display" pitchFamily="34" charset="-120"/>
              </a:rPr>
              <a:t>Test → Offer</a:t>
            </a:r>
            <a:endParaRPr lang="en-US" sz="2600" dirty="0"/>
          </a:p>
        </p:txBody>
      </p:sp>
      <p:sp>
        <p:nvSpPr>
          <p:cNvPr id="14" name="Text 12"/>
          <p:cNvSpPr/>
          <p:nvPr/>
        </p:nvSpPr>
        <p:spPr>
          <a:xfrm>
            <a:off x="7360920" y="4215384"/>
            <a:ext cx="3200400" cy="292608"/>
          </a:xfrm>
          <a:prstGeom prst="rect">
            <a:avLst/>
          </a:prstGeom>
          <a:noFill/>
          <a:ln/>
        </p:spPr>
        <p:txBody>
          <a:bodyPr wrap="square" lIns="0" tIns="0" rIns="0" bIns="0" rtlCol="0" anchor="ctr">
            <a:normAutofit/>
          </a:bodyPr>
          <a:lstStyle/>
          <a:p>
            <a:pPr indent="0" marL="0">
              <a:buNone/>
            </a:pPr>
            <a:r>
              <a:rPr lang="en-US" sz="950" dirty="0">
                <a:solidFill>
                  <a:srgbClr val="374151"/>
                </a:solidFill>
                <a:latin typeface="Aptos" pitchFamily="34" charset="0"/>
                <a:ea typeface="Aptos" pitchFamily="34" charset="-122"/>
                <a:cs typeface="Aptos" pitchFamily="34" charset="-120"/>
              </a:rPr>
              <a:t>primary bottleneck</a:t>
            </a:r>
            <a:endParaRPr lang="en-US" sz="950" dirty="0"/>
          </a:p>
        </p:txBody>
      </p:sp>
      <p:sp>
        <p:nvSpPr>
          <p:cNvPr id="15" name="Shape 13"/>
          <p:cNvSpPr/>
          <p:nvPr/>
        </p:nvSpPr>
        <p:spPr>
          <a:xfrm rot="900000">
            <a:off x="9646920" y="5074920"/>
            <a:ext cx="1371600" cy="1371600"/>
          </a:xfrm>
          <a:prstGeom prst="arc">
            <a:avLst/>
          </a:prstGeom>
          <a:noFill/>
          <a:ln w="38100">
            <a:solidFill>
              <a:srgbClr val="DBEAFE"/>
            </a:solidFill>
            <a:prstDash val="solid"/>
          </a:ln>
        </p:spPr>
      </p:sp>
      <p:sp>
        <p:nvSpPr>
          <p:cNvPr id="16" name="Shape 14"/>
          <p:cNvSpPr/>
          <p:nvPr/>
        </p:nvSpPr>
        <p:spPr>
          <a:xfrm>
            <a:off x="713232" y="3749040"/>
            <a:ext cx="1508760" cy="310896"/>
          </a:xfrm>
          <a:prstGeom prst="roundRect">
            <a:avLst>
              <a:gd name="adj" fmla="val 20588"/>
            </a:avLst>
          </a:prstGeom>
          <a:solidFill>
            <a:srgbClr val="DBEAFE"/>
          </a:solidFill>
          <a:ln w="12700">
            <a:solidFill>
              <a:srgbClr val="DBEAFE"/>
            </a:solidFill>
            <a:prstDash val="solid"/>
          </a:ln>
        </p:spPr>
      </p:sp>
      <p:sp>
        <p:nvSpPr>
          <p:cNvPr id="17" name="Text 15"/>
          <p:cNvSpPr/>
          <p:nvPr/>
        </p:nvSpPr>
        <p:spPr>
          <a:xfrm>
            <a:off x="786384" y="3817620"/>
            <a:ext cx="1362456" cy="128016"/>
          </a:xfrm>
          <a:prstGeom prst="rect">
            <a:avLst/>
          </a:prstGeom>
          <a:noFill/>
          <a:ln/>
        </p:spPr>
        <p:txBody>
          <a:bodyPr wrap="square" lIns="0" tIns="0" rIns="0" bIns="0" rtlCol="0" anchor="ctr"/>
          <a:lstStyle/>
          <a:p>
            <a:pPr algn="ctr" indent="0" marL="0">
              <a:buNone/>
            </a:pPr>
            <a:r>
              <a:rPr lang="en-US" sz="830" b="1" dirty="0">
                <a:solidFill>
                  <a:srgbClr val="2563EB"/>
                </a:solidFill>
                <a:latin typeface="Aptos" pitchFamily="34" charset="0"/>
                <a:ea typeface="Aptos" pitchFamily="34" charset="-122"/>
                <a:cs typeface="Aptos" pitchFamily="34" charset="-120"/>
              </a:rPr>
              <a:t>Technical Challenge</a:t>
            </a:r>
            <a:endParaRPr lang="en-US" sz="830" dirty="0"/>
          </a:p>
        </p:txBody>
      </p:sp>
      <p:sp>
        <p:nvSpPr>
          <p:cNvPr id="18" name="Shape 16"/>
          <p:cNvSpPr/>
          <p:nvPr/>
        </p:nvSpPr>
        <p:spPr>
          <a:xfrm>
            <a:off x="2377440" y="3749040"/>
            <a:ext cx="1417320" cy="310896"/>
          </a:xfrm>
          <a:prstGeom prst="roundRect">
            <a:avLst>
              <a:gd name="adj" fmla="val 20588"/>
            </a:avLst>
          </a:prstGeom>
          <a:solidFill>
            <a:srgbClr val="DCFCE7"/>
          </a:solidFill>
          <a:ln w="12700">
            <a:solidFill>
              <a:srgbClr val="DCFCE7"/>
            </a:solidFill>
            <a:prstDash val="solid"/>
          </a:ln>
        </p:spPr>
      </p:sp>
      <p:sp>
        <p:nvSpPr>
          <p:cNvPr id="19" name="Text 17"/>
          <p:cNvSpPr/>
          <p:nvPr/>
        </p:nvSpPr>
        <p:spPr>
          <a:xfrm>
            <a:off x="2450592" y="3817620"/>
            <a:ext cx="1271016" cy="128016"/>
          </a:xfrm>
          <a:prstGeom prst="rect">
            <a:avLst/>
          </a:prstGeom>
          <a:noFill/>
          <a:ln/>
        </p:spPr>
        <p:txBody>
          <a:bodyPr wrap="square" lIns="0" tIns="0" rIns="0" bIns="0" rtlCol="0" anchor="ctr"/>
          <a:lstStyle/>
          <a:p>
            <a:pPr algn="ctr" indent="0" marL="0">
              <a:buNone/>
            </a:pPr>
            <a:r>
              <a:rPr lang="en-US" sz="830" b="1" dirty="0">
                <a:solidFill>
                  <a:srgbClr val="16A34A"/>
                </a:solidFill>
                <a:latin typeface="Aptos" pitchFamily="34" charset="0"/>
                <a:ea typeface="Aptos" pitchFamily="34" charset="-122"/>
                <a:cs typeface="Aptos" pitchFamily="34" charset="-120"/>
              </a:rPr>
              <a:t>Funnel Analysis</a:t>
            </a:r>
            <a:endParaRPr lang="en-US" sz="830" dirty="0"/>
          </a:p>
        </p:txBody>
      </p:sp>
      <p:sp>
        <p:nvSpPr>
          <p:cNvPr id="20" name="Shape 18"/>
          <p:cNvSpPr/>
          <p:nvPr/>
        </p:nvSpPr>
        <p:spPr>
          <a:xfrm>
            <a:off x="3950208" y="3749040"/>
            <a:ext cx="1234440" cy="310896"/>
          </a:xfrm>
          <a:prstGeom prst="roundRect">
            <a:avLst>
              <a:gd name="adj" fmla="val 20588"/>
            </a:avLst>
          </a:prstGeom>
          <a:solidFill>
            <a:srgbClr val="FFEDD5"/>
          </a:solidFill>
          <a:ln w="12700">
            <a:solidFill>
              <a:srgbClr val="FFEDD5"/>
            </a:solidFill>
            <a:prstDash val="solid"/>
          </a:ln>
        </p:spPr>
      </p:sp>
      <p:sp>
        <p:nvSpPr>
          <p:cNvPr id="21" name="Text 19"/>
          <p:cNvSpPr/>
          <p:nvPr/>
        </p:nvSpPr>
        <p:spPr>
          <a:xfrm>
            <a:off x="4023360" y="3817620"/>
            <a:ext cx="1088136" cy="128016"/>
          </a:xfrm>
          <a:prstGeom prst="rect">
            <a:avLst/>
          </a:prstGeom>
          <a:noFill/>
          <a:ln/>
        </p:spPr>
        <p:txBody>
          <a:bodyPr wrap="square" lIns="0" tIns="0" rIns="0" bIns="0" rtlCol="0" anchor="ctr"/>
          <a:lstStyle/>
          <a:p>
            <a:pPr algn="ctr" indent="0" marL="0">
              <a:buNone/>
            </a:pPr>
            <a:r>
              <a:rPr lang="en-US" sz="830" b="1" dirty="0">
                <a:solidFill>
                  <a:srgbClr val="F97316"/>
                </a:solidFill>
                <a:latin typeface="Aptos" pitchFamily="34" charset="0"/>
                <a:ea typeface="Aptos" pitchFamily="34" charset="-122"/>
                <a:cs typeface="Aptos" pitchFamily="34" charset="-120"/>
              </a:rPr>
              <a:t>AI Workflow</a:t>
            </a:r>
            <a:endParaRPr lang="en-US" sz="830" dirty="0"/>
          </a:p>
        </p:txBody>
      </p:sp>
      <p:sp>
        <p:nvSpPr>
          <p:cNvPr id="22" name="Text 20"/>
          <p:cNvSpPr/>
          <p:nvPr/>
        </p:nvSpPr>
        <p:spPr>
          <a:xfrm>
            <a:off x="713232" y="5760720"/>
            <a:ext cx="2926080" cy="228600"/>
          </a:xfrm>
          <a:prstGeom prst="rect">
            <a:avLst/>
          </a:prstGeom>
          <a:noFill/>
          <a:ln/>
        </p:spPr>
        <p:txBody>
          <a:bodyPr wrap="square" lIns="0" tIns="0" rIns="0" bIns="0" rtlCol="0" anchor="ctr"/>
          <a:lstStyle/>
          <a:p>
            <a:pPr indent="0" marL="0">
              <a:buNone/>
            </a:pPr>
            <a:r>
              <a:rPr lang="en-US" sz="1050" dirty="0">
                <a:solidFill>
                  <a:srgbClr val="6B7280"/>
                </a:solidFill>
                <a:latin typeface="Aptos" pitchFamily="34" charset="0"/>
                <a:ea typeface="Aptos" pitchFamily="34" charset="-122"/>
                <a:cs typeface="Aptos" pitchFamily="34" charset="-120"/>
              </a:rPr>
              <a:t>Prepared by Lays Bloch</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9FAFB"/>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9FAFB"/>
          </a:solidFill>
          <a:ln w="12700">
            <a:solidFill>
              <a:srgbClr val="F9FAFB">
                <a:alpha val="0"/>
              </a:srgbClr>
            </a:solidFill>
            <a:prstDash val="solid"/>
          </a:ln>
        </p:spPr>
      </p:sp>
      <p:sp>
        <p:nvSpPr>
          <p:cNvPr id="3" name="Shape 1"/>
          <p:cNvSpPr/>
          <p:nvPr/>
        </p:nvSpPr>
        <p:spPr>
          <a:xfrm>
            <a:off x="0" y="0"/>
            <a:ext cx="12191695" cy="109728"/>
          </a:xfrm>
          <a:prstGeom prst="rect">
            <a:avLst/>
          </a:prstGeom>
          <a:solidFill>
            <a:srgbClr val="2563EB"/>
          </a:solidFill>
          <a:ln w="12700">
            <a:solidFill>
              <a:srgbClr val="2563EB"/>
            </a:solidFill>
            <a:prstDash val="solid"/>
          </a:ln>
        </p:spPr>
      </p:sp>
      <p:sp>
        <p:nvSpPr>
          <p:cNvPr id="4" name="Text 2"/>
          <p:cNvSpPr/>
          <p:nvPr/>
        </p:nvSpPr>
        <p:spPr>
          <a:xfrm>
            <a:off x="502920" y="6510528"/>
            <a:ext cx="7132320" cy="164592"/>
          </a:xfrm>
          <a:prstGeom prst="rect">
            <a:avLst/>
          </a:prstGeom>
          <a:noFill/>
          <a:ln/>
        </p:spPr>
        <p:txBody>
          <a:bodyPr wrap="square" lIns="0" tIns="0" rIns="0" bIns="0" rtlCol="0" anchor="ctr"/>
          <a:lstStyle/>
          <a:p>
            <a:pPr indent="0" marL="0">
              <a:buNone/>
            </a:pPr>
            <a:r>
              <a:rPr lang="en-US" sz="700" dirty="0">
                <a:solidFill>
                  <a:srgbClr val="6B7280"/>
                </a:solidFill>
                <a:latin typeface="Aptos" pitchFamily="34" charset="0"/>
                <a:ea typeface="Aptos" pitchFamily="34" charset="-122"/>
                <a:cs typeface="Aptos" pitchFamily="34" charset="-120"/>
              </a:rPr>
              <a:t>Sourcing Analysis with AI  |  Recruiter decision-support view</a:t>
            </a:r>
            <a:endParaRPr lang="en-US" sz="700" dirty="0"/>
          </a:p>
        </p:txBody>
      </p:sp>
      <p:sp>
        <p:nvSpPr>
          <p:cNvPr id="5" name="Text 3"/>
          <p:cNvSpPr/>
          <p:nvPr/>
        </p:nvSpPr>
        <p:spPr>
          <a:xfrm>
            <a:off x="10424160" y="6510528"/>
            <a:ext cx="1280160" cy="164592"/>
          </a:xfrm>
          <a:prstGeom prst="rect">
            <a:avLst/>
          </a:prstGeom>
          <a:noFill/>
          <a:ln/>
        </p:spPr>
        <p:txBody>
          <a:bodyPr wrap="square" lIns="0" tIns="0" rIns="0" bIns="0" rtlCol="0" anchor="ctr"/>
          <a:lstStyle/>
          <a:p>
            <a:pPr algn="r" indent="0" marL="0">
              <a:buNone/>
            </a:pPr>
            <a:r>
              <a:rPr lang="en-US" sz="700" dirty="0">
                <a:solidFill>
                  <a:srgbClr val="6B7280"/>
                </a:solidFill>
                <a:latin typeface="Aptos" pitchFamily="34" charset="0"/>
                <a:ea typeface="Aptos" pitchFamily="34" charset="-122"/>
                <a:cs typeface="Aptos" pitchFamily="34" charset="-120"/>
              </a:rPr>
              <a:t>Fictional dataset</a:t>
            </a:r>
            <a:endParaRPr lang="en-US" sz="700" dirty="0"/>
          </a:p>
        </p:txBody>
      </p:sp>
      <p:sp>
        <p:nvSpPr>
          <p:cNvPr id="6" name="Text 4"/>
          <p:cNvSpPr/>
          <p:nvPr/>
        </p:nvSpPr>
        <p:spPr>
          <a:xfrm>
            <a:off x="594360" y="420624"/>
            <a:ext cx="2377440" cy="228600"/>
          </a:xfrm>
          <a:prstGeom prst="rect">
            <a:avLst/>
          </a:prstGeom>
          <a:noFill/>
          <a:ln/>
        </p:spPr>
        <p:txBody>
          <a:bodyPr wrap="square" lIns="0" tIns="0" rIns="0" bIns="0" rtlCol="0" anchor="ctr"/>
          <a:lstStyle/>
          <a:p>
            <a:pPr indent="0" marL="0">
              <a:buNone/>
            </a:pPr>
            <a:r>
              <a:rPr lang="en-US" sz="900" b="1" dirty="0">
                <a:solidFill>
                  <a:srgbClr val="2563EB"/>
                </a:solidFill>
                <a:latin typeface="Aptos" pitchFamily="34" charset="0"/>
                <a:ea typeface="Aptos" pitchFamily="34" charset="-122"/>
                <a:cs typeface="Aptos" pitchFamily="34" charset="-120"/>
              </a:rPr>
              <a:t>BUSINESS QUESTION</a:t>
            </a:r>
            <a:endParaRPr lang="en-US" sz="900" dirty="0"/>
          </a:p>
        </p:txBody>
      </p:sp>
      <p:sp>
        <p:nvSpPr>
          <p:cNvPr id="7" name="Text 5"/>
          <p:cNvSpPr/>
          <p:nvPr/>
        </p:nvSpPr>
        <p:spPr>
          <a:xfrm>
            <a:off x="566928" y="694944"/>
            <a:ext cx="7772400" cy="502920"/>
          </a:xfrm>
          <a:prstGeom prst="rect">
            <a:avLst/>
          </a:prstGeom>
          <a:noFill/>
          <a:ln/>
        </p:spPr>
        <p:txBody>
          <a:bodyPr wrap="square" lIns="0" tIns="0" rIns="0" bIns="0" rtlCol="0" anchor="ctr"/>
          <a:lstStyle/>
          <a:p>
            <a:pPr indent="0" marL="0">
              <a:buNone/>
            </a:pPr>
            <a:r>
              <a:rPr lang="en-US" sz="2400" b="1" dirty="0">
                <a:solidFill>
                  <a:srgbClr val="111827"/>
                </a:solidFill>
                <a:latin typeface="Aptos Display" pitchFamily="34" charset="0"/>
                <a:ea typeface="Aptos Display" pitchFamily="34" charset="-122"/>
                <a:cs typeface="Aptos Display" pitchFamily="34" charset="-120"/>
              </a:rPr>
              <a:t>From sourcing data to recruiter decisions</a:t>
            </a:r>
            <a:endParaRPr lang="en-US" sz="2400" dirty="0"/>
          </a:p>
        </p:txBody>
      </p:sp>
      <p:sp>
        <p:nvSpPr>
          <p:cNvPr id="8" name="Text 6"/>
          <p:cNvSpPr/>
          <p:nvPr/>
        </p:nvSpPr>
        <p:spPr>
          <a:xfrm>
            <a:off x="640080" y="1508760"/>
            <a:ext cx="9692640" cy="685800"/>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Aptos Display" pitchFamily="34" charset="0"/>
                <a:ea typeface="Aptos Display" pitchFamily="34" charset="-122"/>
                <a:cs typeface="Aptos Display" pitchFamily="34" charset="-120"/>
              </a:rPr>
              <a:t>How can a recruiting team use sourcing funnel data and AI-assisted qualitative analysis to identify stronger conversion patterns, reduce time spent on low-probability candidates, and improve follow-up decisions?</a:t>
            </a:r>
            <a:endParaRPr lang="en-US" sz="2000" dirty="0"/>
          </a:p>
        </p:txBody>
      </p:sp>
      <p:sp>
        <p:nvSpPr>
          <p:cNvPr id="9" name="Shape 7"/>
          <p:cNvSpPr/>
          <p:nvPr/>
        </p:nvSpPr>
        <p:spPr>
          <a:xfrm>
            <a:off x="1051560" y="3520440"/>
            <a:ext cx="9326880" cy="0"/>
          </a:xfrm>
          <a:prstGeom prst="line">
            <a:avLst/>
          </a:prstGeom>
          <a:noFill/>
          <a:ln w="25400">
            <a:solidFill>
              <a:srgbClr val="E5E7EB"/>
            </a:solidFill>
            <a:prstDash val="solid"/>
            <a:tailEnd type="triangle"/>
          </a:ln>
        </p:spPr>
      </p:sp>
      <p:sp>
        <p:nvSpPr>
          <p:cNvPr id="10" name="Shape 8"/>
          <p:cNvSpPr/>
          <p:nvPr/>
        </p:nvSpPr>
        <p:spPr>
          <a:xfrm>
            <a:off x="777240" y="3090672"/>
            <a:ext cx="786384" cy="786384"/>
          </a:xfrm>
          <a:prstGeom prst="ellipse">
            <a:avLst/>
          </a:prstGeom>
          <a:solidFill>
            <a:srgbClr val="DBEAFE"/>
          </a:solidFill>
          <a:ln w="15240">
            <a:solidFill>
              <a:srgbClr val="2563EB"/>
            </a:solidFill>
            <a:prstDash val="solid"/>
          </a:ln>
        </p:spPr>
      </p:sp>
      <p:sp>
        <p:nvSpPr>
          <p:cNvPr id="11" name="Text 9"/>
          <p:cNvSpPr/>
          <p:nvPr/>
        </p:nvSpPr>
        <p:spPr>
          <a:xfrm>
            <a:off x="777240" y="3246120"/>
            <a:ext cx="786384" cy="164592"/>
          </a:xfrm>
          <a:prstGeom prst="rect">
            <a:avLst/>
          </a:prstGeom>
          <a:noFill/>
          <a:ln/>
        </p:spPr>
        <p:txBody>
          <a:bodyPr wrap="square" lIns="0" tIns="0" rIns="0" bIns="0" rtlCol="0" anchor="ctr"/>
          <a:lstStyle/>
          <a:p>
            <a:pPr algn="ctr" indent="0" marL="0">
              <a:buNone/>
            </a:pPr>
            <a:r>
              <a:rPr lang="en-US" sz="1500" b="1" dirty="0">
                <a:solidFill>
                  <a:srgbClr val="2563EB"/>
                </a:solidFill>
                <a:latin typeface="Aptos" pitchFamily="34" charset="0"/>
                <a:ea typeface="Aptos" pitchFamily="34" charset="-122"/>
                <a:cs typeface="Aptos" pitchFamily="34" charset="-120"/>
              </a:rPr>
              <a:t>1</a:t>
            </a:r>
            <a:endParaRPr lang="en-US" sz="1500" dirty="0"/>
          </a:p>
        </p:txBody>
      </p:sp>
      <p:sp>
        <p:nvSpPr>
          <p:cNvPr id="12" name="Text 10"/>
          <p:cNvSpPr/>
          <p:nvPr/>
        </p:nvSpPr>
        <p:spPr>
          <a:xfrm>
            <a:off x="274320" y="4069080"/>
            <a:ext cx="1783080" cy="210312"/>
          </a:xfrm>
          <a:prstGeom prst="rect">
            <a:avLst/>
          </a:prstGeom>
          <a:noFill/>
          <a:ln/>
        </p:spPr>
        <p:txBody>
          <a:bodyPr wrap="square" lIns="0" tIns="0" rIns="0" bIns="0" rtlCol="0" anchor="ctr"/>
          <a:lstStyle/>
          <a:p>
            <a:pPr algn="ctr" indent="0" marL="0">
              <a:buNone/>
            </a:pPr>
            <a:r>
              <a:rPr lang="en-US" sz="1150" b="1" dirty="0">
                <a:solidFill>
                  <a:srgbClr val="111827"/>
                </a:solidFill>
                <a:latin typeface="Aptos" pitchFamily="34" charset="0"/>
                <a:ea typeface="Aptos" pitchFamily="34" charset="-122"/>
                <a:cs typeface="Aptos" pitchFamily="34" charset="-120"/>
              </a:rPr>
              <a:t>Structured data</a:t>
            </a:r>
            <a:endParaRPr lang="en-US" sz="1150" dirty="0"/>
          </a:p>
        </p:txBody>
      </p:sp>
      <p:sp>
        <p:nvSpPr>
          <p:cNvPr id="13" name="Text 11"/>
          <p:cNvSpPr/>
          <p:nvPr/>
        </p:nvSpPr>
        <p:spPr>
          <a:xfrm>
            <a:off x="182880" y="4370832"/>
            <a:ext cx="2011680" cy="329184"/>
          </a:xfrm>
          <a:prstGeom prst="rect">
            <a:avLst/>
          </a:prstGeom>
          <a:noFill/>
          <a:ln/>
        </p:spPr>
        <p:txBody>
          <a:bodyPr wrap="square" lIns="0" tIns="0" rIns="0" bIns="0" rtlCol="0" anchor="ctr">
            <a:normAutofit/>
          </a:bodyPr>
          <a:lstStyle/>
          <a:p>
            <a:pPr algn="ctr" indent="0" marL="0">
              <a:buNone/>
            </a:pPr>
            <a:r>
              <a:rPr lang="en-US" sz="880" dirty="0">
                <a:solidFill>
                  <a:srgbClr val="6B7280"/>
                </a:solidFill>
                <a:latin typeface="Aptos" pitchFamily="34" charset="0"/>
                <a:ea typeface="Aptos" pitchFamily="34" charset="-122"/>
                <a:cs typeface="Aptos" pitchFamily="34" charset="-120"/>
              </a:rPr>
              <a:t>stages, channels, scores, recruiters</a:t>
            </a:r>
            <a:endParaRPr lang="en-US" sz="880" dirty="0"/>
          </a:p>
        </p:txBody>
      </p:sp>
      <p:sp>
        <p:nvSpPr>
          <p:cNvPr id="14" name="Shape 12"/>
          <p:cNvSpPr/>
          <p:nvPr/>
        </p:nvSpPr>
        <p:spPr>
          <a:xfrm>
            <a:off x="3566160" y="3090672"/>
            <a:ext cx="786384" cy="786384"/>
          </a:xfrm>
          <a:prstGeom prst="ellipse">
            <a:avLst/>
          </a:prstGeom>
          <a:solidFill>
            <a:srgbClr val="DCFCE7"/>
          </a:solidFill>
          <a:ln w="15240">
            <a:solidFill>
              <a:srgbClr val="16A34A"/>
            </a:solidFill>
            <a:prstDash val="solid"/>
          </a:ln>
        </p:spPr>
      </p:sp>
      <p:sp>
        <p:nvSpPr>
          <p:cNvPr id="15" name="Text 13"/>
          <p:cNvSpPr/>
          <p:nvPr/>
        </p:nvSpPr>
        <p:spPr>
          <a:xfrm>
            <a:off x="3566160" y="3246120"/>
            <a:ext cx="786384" cy="164592"/>
          </a:xfrm>
          <a:prstGeom prst="rect">
            <a:avLst/>
          </a:prstGeom>
          <a:noFill/>
          <a:ln/>
        </p:spPr>
        <p:txBody>
          <a:bodyPr wrap="square" lIns="0" tIns="0" rIns="0" bIns="0" rtlCol="0" anchor="ctr"/>
          <a:lstStyle/>
          <a:p>
            <a:pPr algn="ctr" indent="0" marL="0">
              <a:buNone/>
            </a:pPr>
            <a:r>
              <a:rPr lang="en-US" sz="1500" b="1" dirty="0">
                <a:solidFill>
                  <a:srgbClr val="16A34A"/>
                </a:solidFill>
                <a:latin typeface="Aptos" pitchFamily="34" charset="0"/>
                <a:ea typeface="Aptos" pitchFamily="34" charset="-122"/>
                <a:cs typeface="Aptos" pitchFamily="34" charset="-120"/>
              </a:rPr>
              <a:t>2</a:t>
            </a:r>
            <a:endParaRPr lang="en-US" sz="1500" dirty="0"/>
          </a:p>
        </p:txBody>
      </p:sp>
      <p:sp>
        <p:nvSpPr>
          <p:cNvPr id="16" name="Text 14"/>
          <p:cNvSpPr/>
          <p:nvPr/>
        </p:nvSpPr>
        <p:spPr>
          <a:xfrm>
            <a:off x="3063240" y="4069080"/>
            <a:ext cx="1783080" cy="210312"/>
          </a:xfrm>
          <a:prstGeom prst="rect">
            <a:avLst/>
          </a:prstGeom>
          <a:noFill/>
          <a:ln/>
        </p:spPr>
        <p:txBody>
          <a:bodyPr wrap="square" lIns="0" tIns="0" rIns="0" bIns="0" rtlCol="0" anchor="ctr"/>
          <a:lstStyle/>
          <a:p>
            <a:pPr algn="ctr" indent="0" marL="0">
              <a:buNone/>
            </a:pPr>
            <a:r>
              <a:rPr lang="en-US" sz="1150" b="1" dirty="0">
                <a:solidFill>
                  <a:srgbClr val="111827"/>
                </a:solidFill>
                <a:latin typeface="Aptos" pitchFamily="34" charset="0"/>
                <a:ea typeface="Aptos" pitchFamily="34" charset="-122"/>
                <a:cs typeface="Aptos" pitchFamily="34" charset="-120"/>
              </a:rPr>
              <a:t>Funnel patterns</a:t>
            </a:r>
            <a:endParaRPr lang="en-US" sz="1150" dirty="0"/>
          </a:p>
        </p:txBody>
      </p:sp>
      <p:sp>
        <p:nvSpPr>
          <p:cNvPr id="17" name="Text 15"/>
          <p:cNvSpPr/>
          <p:nvPr/>
        </p:nvSpPr>
        <p:spPr>
          <a:xfrm>
            <a:off x="2971800" y="4370832"/>
            <a:ext cx="2011680" cy="329184"/>
          </a:xfrm>
          <a:prstGeom prst="rect">
            <a:avLst/>
          </a:prstGeom>
          <a:noFill/>
          <a:ln/>
        </p:spPr>
        <p:txBody>
          <a:bodyPr wrap="square" lIns="0" tIns="0" rIns="0" bIns="0" rtlCol="0" anchor="ctr">
            <a:normAutofit/>
          </a:bodyPr>
          <a:lstStyle/>
          <a:p>
            <a:pPr algn="ctr" indent="0" marL="0">
              <a:buNone/>
            </a:pPr>
            <a:r>
              <a:rPr lang="en-US" sz="880" dirty="0">
                <a:solidFill>
                  <a:srgbClr val="6B7280"/>
                </a:solidFill>
                <a:latin typeface="Aptos" pitchFamily="34" charset="0"/>
                <a:ea typeface="Aptos" pitchFamily="34" charset="-122"/>
                <a:cs typeface="Aptos" pitchFamily="34" charset="-120"/>
              </a:rPr>
              <a:t>drop-offs and conversion rates</a:t>
            </a:r>
            <a:endParaRPr lang="en-US" sz="880" dirty="0"/>
          </a:p>
        </p:txBody>
      </p:sp>
      <p:sp>
        <p:nvSpPr>
          <p:cNvPr id="18" name="Shape 16"/>
          <p:cNvSpPr/>
          <p:nvPr/>
        </p:nvSpPr>
        <p:spPr>
          <a:xfrm>
            <a:off x="6355080" y="3090672"/>
            <a:ext cx="786384" cy="786384"/>
          </a:xfrm>
          <a:prstGeom prst="ellipse">
            <a:avLst/>
          </a:prstGeom>
          <a:solidFill>
            <a:srgbClr val="FFEDD5"/>
          </a:solidFill>
          <a:ln w="15240">
            <a:solidFill>
              <a:srgbClr val="F97316"/>
            </a:solidFill>
            <a:prstDash val="solid"/>
          </a:ln>
        </p:spPr>
      </p:sp>
      <p:sp>
        <p:nvSpPr>
          <p:cNvPr id="19" name="Text 17"/>
          <p:cNvSpPr/>
          <p:nvPr/>
        </p:nvSpPr>
        <p:spPr>
          <a:xfrm>
            <a:off x="6355080" y="3246120"/>
            <a:ext cx="786384" cy="164592"/>
          </a:xfrm>
          <a:prstGeom prst="rect">
            <a:avLst/>
          </a:prstGeom>
          <a:noFill/>
          <a:ln/>
        </p:spPr>
        <p:txBody>
          <a:bodyPr wrap="square" lIns="0" tIns="0" rIns="0" bIns="0" rtlCol="0" anchor="ctr"/>
          <a:lstStyle/>
          <a:p>
            <a:pPr algn="ctr" indent="0" marL="0">
              <a:buNone/>
            </a:pPr>
            <a:r>
              <a:rPr lang="en-US" sz="1500" b="1" dirty="0">
                <a:solidFill>
                  <a:srgbClr val="F97316"/>
                </a:solidFill>
                <a:latin typeface="Aptos" pitchFamily="34" charset="0"/>
                <a:ea typeface="Aptos" pitchFamily="34" charset="-122"/>
                <a:cs typeface="Aptos" pitchFamily="34" charset="-120"/>
              </a:rPr>
              <a:t>3</a:t>
            </a:r>
            <a:endParaRPr lang="en-US" sz="1500" dirty="0"/>
          </a:p>
        </p:txBody>
      </p:sp>
      <p:sp>
        <p:nvSpPr>
          <p:cNvPr id="20" name="Text 18"/>
          <p:cNvSpPr/>
          <p:nvPr/>
        </p:nvSpPr>
        <p:spPr>
          <a:xfrm>
            <a:off x="5852160" y="4069080"/>
            <a:ext cx="1783080" cy="210312"/>
          </a:xfrm>
          <a:prstGeom prst="rect">
            <a:avLst/>
          </a:prstGeom>
          <a:noFill/>
          <a:ln/>
        </p:spPr>
        <p:txBody>
          <a:bodyPr wrap="square" lIns="0" tIns="0" rIns="0" bIns="0" rtlCol="0" anchor="ctr"/>
          <a:lstStyle/>
          <a:p>
            <a:pPr algn="ctr" indent="0" marL="0">
              <a:buNone/>
            </a:pPr>
            <a:r>
              <a:rPr lang="en-US" sz="1150" b="1" dirty="0">
                <a:solidFill>
                  <a:srgbClr val="111827"/>
                </a:solidFill>
                <a:latin typeface="Aptos" pitchFamily="34" charset="0"/>
                <a:ea typeface="Aptos" pitchFamily="34" charset="-122"/>
                <a:cs typeface="Aptos" pitchFamily="34" charset="-120"/>
              </a:rPr>
              <a:t>AI note tagging</a:t>
            </a:r>
            <a:endParaRPr lang="en-US" sz="1150" dirty="0"/>
          </a:p>
        </p:txBody>
      </p:sp>
      <p:sp>
        <p:nvSpPr>
          <p:cNvPr id="21" name="Text 19"/>
          <p:cNvSpPr/>
          <p:nvPr/>
        </p:nvSpPr>
        <p:spPr>
          <a:xfrm>
            <a:off x="5760720" y="4370832"/>
            <a:ext cx="2011680" cy="329184"/>
          </a:xfrm>
          <a:prstGeom prst="rect">
            <a:avLst/>
          </a:prstGeom>
          <a:noFill/>
          <a:ln/>
        </p:spPr>
        <p:txBody>
          <a:bodyPr wrap="square" lIns="0" tIns="0" rIns="0" bIns="0" rtlCol="0" anchor="ctr">
            <a:normAutofit/>
          </a:bodyPr>
          <a:lstStyle/>
          <a:p>
            <a:pPr algn="ctr" indent="0" marL="0">
              <a:buNone/>
            </a:pPr>
            <a:r>
              <a:rPr lang="en-US" sz="880" dirty="0">
                <a:solidFill>
                  <a:srgbClr val="6B7280"/>
                </a:solidFill>
                <a:latin typeface="Aptos" pitchFamily="34" charset="0"/>
                <a:ea typeface="Aptos" pitchFamily="34" charset="-122"/>
                <a:cs typeface="Aptos" pitchFamily="34" charset="-120"/>
              </a:rPr>
              <a:t>qualitative risks made measurable</a:t>
            </a:r>
            <a:endParaRPr lang="en-US" sz="880" dirty="0"/>
          </a:p>
        </p:txBody>
      </p:sp>
      <p:sp>
        <p:nvSpPr>
          <p:cNvPr id="22" name="Shape 20"/>
          <p:cNvSpPr/>
          <p:nvPr/>
        </p:nvSpPr>
        <p:spPr>
          <a:xfrm>
            <a:off x="9144000" y="3090672"/>
            <a:ext cx="786384" cy="786384"/>
          </a:xfrm>
          <a:prstGeom prst="ellipse">
            <a:avLst/>
          </a:prstGeom>
          <a:solidFill>
            <a:srgbClr val="FEE2E2"/>
          </a:solidFill>
          <a:ln w="15240">
            <a:solidFill>
              <a:srgbClr val="DC2626"/>
            </a:solidFill>
            <a:prstDash val="solid"/>
          </a:ln>
        </p:spPr>
      </p:sp>
      <p:sp>
        <p:nvSpPr>
          <p:cNvPr id="23" name="Text 21"/>
          <p:cNvSpPr/>
          <p:nvPr/>
        </p:nvSpPr>
        <p:spPr>
          <a:xfrm>
            <a:off x="9144000" y="3246120"/>
            <a:ext cx="786384" cy="164592"/>
          </a:xfrm>
          <a:prstGeom prst="rect">
            <a:avLst/>
          </a:prstGeom>
          <a:noFill/>
          <a:ln/>
        </p:spPr>
        <p:txBody>
          <a:bodyPr wrap="square" lIns="0" tIns="0" rIns="0" bIns="0" rtlCol="0" anchor="ctr"/>
          <a:lstStyle/>
          <a:p>
            <a:pPr algn="ctr" indent="0" marL="0">
              <a:buNone/>
            </a:pPr>
            <a:r>
              <a:rPr lang="en-US" sz="1500" b="1" dirty="0">
                <a:solidFill>
                  <a:srgbClr val="DC2626"/>
                </a:solidFill>
                <a:latin typeface="Aptos" pitchFamily="34" charset="0"/>
                <a:ea typeface="Aptos" pitchFamily="34" charset="-122"/>
                <a:cs typeface="Aptos" pitchFamily="34" charset="-120"/>
              </a:rPr>
              <a:t>4</a:t>
            </a:r>
            <a:endParaRPr lang="en-US" sz="1500" dirty="0"/>
          </a:p>
        </p:txBody>
      </p:sp>
      <p:sp>
        <p:nvSpPr>
          <p:cNvPr id="24" name="Text 22"/>
          <p:cNvSpPr/>
          <p:nvPr/>
        </p:nvSpPr>
        <p:spPr>
          <a:xfrm>
            <a:off x="8641080" y="4069080"/>
            <a:ext cx="1783080" cy="210312"/>
          </a:xfrm>
          <a:prstGeom prst="rect">
            <a:avLst/>
          </a:prstGeom>
          <a:noFill/>
          <a:ln/>
        </p:spPr>
        <p:txBody>
          <a:bodyPr wrap="square" lIns="0" tIns="0" rIns="0" bIns="0" rtlCol="0" anchor="ctr"/>
          <a:lstStyle/>
          <a:p>
            <a:pPr algn="ctr" indent="0" marL="0">
              <a:buNone/>
            </a:pPr>
            <a:r>
              <a:rPr lang="en-US" sz="1150" b="1" dirty="0">
                <a:solidFill>
                  <a:srgbClr val="111827"/>
                </a:solidFill>
                <a:latin typeface="Aptos" pitchFamily="34" charset="0"/>
                <a:ea typeface="Aptos" pitchFamily="34" charset="-122"/>
                <a:cs typeface="Aptos" pitchFamily="34" charset="-120"/>
              </a:rPr>
              <a:t>Recruiter actions</a:t>
            </a:r>
            <a:endParaRPr lang="en-US" sz="1150" dirty="0"/>
          </a:p>
        </p:txBody>
      </p:sp>
      <p:sp>
        <p:nvSpPr>
          <p:cNvPr id="25" name="Text 23"/>
          <p:cNvSpPr/>
          <p:nvPr/>
        </p:nvSpPr>
        <p:spPr>
          <a:xfrm>
            <a:off x="8549640" y="4370832"/>
            <a:ext cx="2011680" cy="329184"/>
          </a:xfrm>
          <a:prstGeom prst="rect">
            <a:avLst/>
          </a:prstGeom>
          <a:noFill/>
          <a:ln/>
        </p:spPr>
        <p:txBody>
          <a:bodyPr wrap="square" lIns="0" tIns="0" rIns="0" bIns="0" rtlCol="0" anchor="ctr">
            <a:normAutofit/>
          </a:bodyPr>
          <a:lstStyle/>
          <a:p>
            <a:pPr algn="ctr" indent="0" marL="0">
              <a:buNone/>
            </a:pPr>
            <a:r>
              <a:rPr lang="en-US" sz="880" dirty="0">
                <a:solidFill>
                  <a:srgbClr val="6B7280"/>
                </a:solidFill>
                <a:latin typeface="Aptos" pitchFamily="34" charset="0"/>
                <a:ea typeface="Aptos" pitchFamily="34" charset="-122"/>
                <a:cs typeface="Aptos" pitchFamily="34" charset="-120"/>
              </a:rPr>
              <a:t>prioritize, nurture, validate, close</a:t>
            </a:r>
            <a:endParaRPr lang="en-US" sz="880" dirty="0"/>
          </a:p>
        </p:txBody>
      </p:sp>
      <p:sp>
        <p:nvSpPr>
          <p:cNvPr id="26" name="Shape 24"/>
          <p:cNvSpPr/>
          <p:nvPr/>
        </p:nvSpPr>
        <p:spPr>
          <a:xfrm>
            <a:off x="868680" y="5349240"/>
            <a:ext cx="9784080" cy="658368"/>
          </a:xfrm>
          <a:prstGeom prst="roundRect">
            <a:avLst>
              <a:gd name="adj" fmla="val 11111"/>
            </a:avLst>
          </a:prstGeom>
          <a:solidFill>
            <a:srgbClr val="FFFFFF"/>
          </a:solidFill>
          <a:ln w="12700">
            <a:solidFill>
              <a:srgbClr val="E5E7EB">
                <a:alpha val="75000"/>
              </a:srgbClr>
            </a:solidFill>
            <a:prstDash val="solid"/>
          </a:ln>
        </p:spPr>
      </p:sp>
      <p:sp>
        <p:nvSpPr>
          <p:cNvPr id="27" name="Text 25"/>
          <p:cNvSpPr/>
          <p:nvPr/>
        </p:nvSpPr>
        <p:spPr>
          <a:xfrm>
            <a:off x="1033272" y="5495544"/>
            <a:ext cx="9454896" cy="402336"/>
          </a:xfrm>
          <a:prstGeom prst="rect">
            <a:avLst/>
          </a:prstGeom>
          <a:noFill/>
          <a:ln/>
        </p:spPr>
        <p:txBody>
          <a:bodyPr wrap="square" lIns="254" tIns="254" rIns="254" bIns="254" rtlCol="0" anchor="ctr">
            <a:normAutofit/>
          </a:bodyPr>
          <a:lstStyle/>
          <a:p>
            <a:pPr indent="0" marL="0">
              <a:buNone/>
            </a:pPr>
            <a:r>
              <a:rPr lang="en-US" sz="1200" b="1" dirty="0">
                <a:solidFill>
                  <a:srgbClr val="111827"/>
                </a:solidFill>
                <a:latin typeface="Aptos" pitchFamily="34" charset="0"/>
                <a:ea typeface="Aptos" pitchFamily="34" charset="-122"/>
                <a:cs typeface="Aptos" pitchFamily="34" charset="-120"/>
              </a:rPr>
              <a:t>The point is not to let AI decide.</a:t>
            </a:r>
            <a:endParaRPr lang="en-US" sz="1200" dirty="0"/>
          </a:p>
          <a:p>
            <a:pPr indent="0" marL="0">
              <a:buNone/>
            </a:pPr>
            <a:r>
              <a:rPr lang="en-US" sz="1200" b="1" dirty="0">
                <a:solidFill>
                  <a:srgbClr val="111827"/>
                </a:solidFill>
                <a:latin typeface="Aptos" pitchFamily="34" charset="0"/>
                <a:ea typeface="Aptos" pitchFamily="34" charset="-122"/>
                <a:cs typeface="Aptos" pitchFamily="34" charset="-120"/>
              </a:rPr>
              <a:t>The point is to help recruiters see patterns earlier.</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9FAFB"/>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9FAFB"/>
          </a:solidFill>
          <a:ln w="12700">
            <a:solidFill>
              <a:srgbClr val="F9FAFB">
                <a:alpha val="0"/>
              </a:srgbClr>
            </a:solidFill>
            <a:prstDash val="solid"/>
          </a:ln>
        </p:spPr>
      </p:sp>
      <p:sp>
        <p:nvSpPr>
          <p:cNvPr id="3" name="Shape 1"/>
          <p:cNvSpPr/>
          <p:nvPr/>
        </p:nvSpPr>
        <p:spPr>
          <a:xfrm>
            <a:off x="0" y="0"/>
            <a:ext cx="12191695" cy="109728"/>
          </a:xfrm>
          <a:prstGeom prst="rect">
            <a:avLst/>
          </a:prstGeom>
          <a:solidFill>
            <a:srgbClr val="2563EB"/>
          </a:solidFill>
          <a:ln w="12700">
            <a:solidFill>
              <a:srgbClr val="2563EB"/>
            </a:solidFill>
            <a:prstDash val="solid"/>
          </a:ln>
        </p:spPr>
      </p:sp>
      <p:sp>
        <p:nvSpPr>
          <p:cNvPr id="4" name="Text 2"/>
          <p:cNvSpPr/>
          <p:nvPr/>
        </p:nvSpPr>
        <p:spPr>
          <a:xfrm>
            <a:off x="502920" y="6510528"/>
            <a:ext cx="7132320" cy="164592"/>
          </a:xfrm>
          <a:prstGeom prst="rect">
            <a:avLst/>
          </a:prstGeom>
          <a:noFill/>
          <a:ln/>
        </p:spPr>
        <p:txBody>
          <a:bodyPr wrap="square" lIns="0" tIns="0" rIns="0" bIns="0" rtlCol="0" anchor="ctr"/>
          <a:lstStyle/>
          <a:p>
            <a:pPr indent="0" marL="0">
              <a:buNone/>
            </a:pPr>
            <a:r>
              <a:rPr lang="en-US" sz="700" dirty="0">
                <a:solidFill>
                  <a:srgbClr val="6B7280"/>
                </a:solidFill>
                <a:latin typeface="Aptos" pitchFamily="34" charset="0"/>
                <a:ea typeface="Aptos" pitchFamily="34" charset="-122"/>
                <a:cs typeface="Aptos" pitchFamily="34" charset="-120"/>
              </a:rPr>
              <a:t>Sourcing Analysis with AI  |  Recruiter decision-support view</a:t>
            </a:r>
            <a:endParaRPr lang="en-US" sz="700" dirty="0"/>
          </a:p>
        </p:txBody>
      </p:sp>
      <p:sp>
        <p:nvSpPr>
          <p:cNvPr id="5" name="Text 3"/>
          <p:cNvSpPr/>
          <p:nvPr/>
        </p:nvSpPr>
        <p:spPr>
          <a:xfrm>
            <a:off x="10424160" y="6510528"/>
            <a:ext cx="1280160" cy="164592"/>
          </a:xfrm>
          <a:prstGeom prst="rect">
            <a:avLst/>
          </a:prstGeom>
          <a:noFill/>
          <a:ln/>
        </p:spPr>
        <p:txBody>
          <a:bodyPr wrap="square" lIns="0" tIns="0" rIns="0" bIns="0" rtlCol="0" anchor="ctr"/>
          <a:lstStyle/>
          <a:p>
            <a:pPr algn="r" indent="0" marL="0">
              <a:buNone/>
            </a:pPr>
            <a:r>
              <a:rPr lang="en-US" sz="700" dirty="0">
                <a:solidFill>
                  <a:srgbClr val="6B7280"/>
                </a:solidFill>
                <a:latin typeface="Aptos" pitchFamily="34" charset="0"/>
                <a:ea typeface="Aptos" pitchFamily="34" charset="-122"/>
                <a:cs typeface="Aptos" pitchFamily="34" charset="-120"/>
              </a:rPr>
              <a:t>Fictional dataset</a:t>
            </a:r>
            <a:endParaRPr lang="en-US" sz="700" dirty="0"/>
          </a:p>
        </p:txBody>
      </p:sp>
      <p:sp>
        <p:nvSpPr>
          <p:cNvPr id="6" name="Text 4"/>
          <p:cNvSpPr/>
          <p:nvPr/>
        </p:nvSpPr>
        <p:spPr>
          <a:xfrm>
            <a:off x="594360" y="420624"/>
            <a:ext cx="2377440" cy="228600"/>
          </a:xfrm>
          <a:prstGeom prst="rect">
            <a:avLst/>
          </a:prstGeom>
          <a:noFill/>
          <a:ln/>
        </p:spPr>
        <p:txBody>
          <a:bodyPr wrap="square" lIns="0" tIns="0" rIns="0" bIns="0" rtlCol="0" anchor="ctr"/>
          <a:lstStyle/>
          <a:p>
            <a:pPr indent="0" marL="0">
              <a:buNone/>
            </a:pPr>
            <a:r>
              <a:rPr lang="en-US" sz="900" b="1" dirty="0">
                <a:solidFill>
                  <a:srgbClr val="2563EB"/>
                </a:solidFill>
                <a:latin typeface="Aptos" pitchFamily="34" charset="0"/>
                <a:ea typeface="Aptos" pitchFamily="34" charset="-122"/>
                <a:cs typeface="Aptos" pitchFamily="34" charset="-120"/>
              </a:rPr>
              <a:t>ANALYSIS 01</a:t>
            </a:r>
            <a:endParaRPr lang="en-US" sz="900" dirty="0"/>
          </a:p>
        </p:txBody>
      </p:sp>
      <p:sp>
        <p:nvSpPr>
          <p:cNvPr id="7" name="Text 5"/>
          <p:cNvSpPr/>
          <p:nvPr/>
        </p:nvSpPr>
        <p:spPr>
          <a:xfrm>
            <a:off x="566928" y="694944"/>
            <a:ext cx="7772400" cy="502920"/>
          </a:xfrm>
          <a:prstGeom prst="rect">
            <a:avLst/>
          </a:prstGeom>
          <a:noFill/>
          <a:ln/>
        </p:spPr>
        <p:txBody>
          <a:bodyPr wrap="square" lIns="0" tIns="0" rIns="0" bIns="0" rtlCol="0" anchor="ctr"/>
          <a:lstStyle/>
          <a:p>
            <a:pPr indent="0" marL="0">
              <a:buNone/>
            </a:pPr>
            <a:r>
              <a:rPr lang="en-US" sz="2400" b="1" dirty="0">
                <a:solidFill>
                  <a:srgbClr val="111827"/>
                </a:solidFill>
                <a:latin typeface="Aptos Display" pitchFamily="34" charset="0"/>
                <a:ea typeface="Aptos Display" pitchFamily="34" charset="-122"/>
                <a:cs typeface="Aptos Display" pitchFamily="34" charset="-120"/>
              </a:rPr>
              <a:t>Funnel overview: the main leak happens late</a:t>
            </a:r>
            <a:endParaRPr lang="en-US" sz="2400" dirty="0"/>
          </a:p>
        </p:txBody>
      </p:sp>
      <p:sp>
        <p:nvSpPr>
          <p:cNvPr id="8" name="Shape 6"/>
          <p:cNvSpPr/>
          <p:nvPr/>
        </p:nvSpPr>
        <p:spPr>
          <a:xfrm>
            <a:off x="777240" y="1920240"/>
            <a:ext cx="694944" cy="2834640"/>
          </a:xfrm>
          <a:prstGeom prst="rect">
            <a:avLst/>
          </a:prstGeom>
          <a:solidFill>
            <a:srgbClr val="2563EB"/>
          </a:solidFill>
          <a:ln w="12700">
            <a:solidFill>
              <a:srgbClr val="2563EB"/>
            </a:solidFill>
            <a:prstDash val="solid"/>
          </a:ln>
        </p:spPr>
      </p:sp>
      <p:sp>
        <p:nvSpPr>
          <p:cNvPr id="9" name="Text 7"/>
          <p:cNvSpPr/>
          <p:nvPr/>
        </p:nvSpPr>
        <p:spPr>
          <a:xfrm>
            <a:off x="731520" y="1600200"/>
            <a:ext cx="786384" cy="201168"/>
          </a:xfrm>
          <a:prstGeom prst="rect">
            <a:avLst/>
          </a:prstGeom>
          <a:noFill/>
          <a:ln/>
        </p:spPr>
        <p:txBody>
          <a:bodyPr wrap="square" lIns="0" tIns="0" rIns="0" bIns="0" rtlCol="0" anchor="ctr"/>
          <a:lstStyle/>
          <a:p>
            <a:pPr algn="ctr" indent="0" marL="0">
              <a:buNone/>
            </a:pPr>
            <a:r>
              <a:rPr lang="en-US" sz="1600" b="1" dirty="0">
                <a:solidFill>
                  <a:srgbClr val="111827"/>
                </a:solidFill>
                <a:latin typeface="Aptos Display" pitchFamily="34" charset="0"/>
                <a:ea typeface="Aptos Display" pitchFamily="34" charset="-122"/>
                <a:cs typeface="Aptos Display" pitchFamily="34" charset="-120"/>
              </a:rPr>
              <a:t>601</a:t>
            </a:r>
            <a:endParaRPr lang="en-US" sz="1600" dirty="0"/>
          </a:p>
        </p:txBody>
      </p:sp>
      <p:sp>
        <p:nvSpPr>
          <p:cNvPr id="10" name="Text 8"/>
          <p:cNvSpPr/>
          <p:nvPr/>
        </p:nvSpPr>
        <p:spPr>
          <a:xfrm>
            <a:off x="640080" y="4892040"/>
            <a:ext cx="969264" cy="201168"/>
          </a:xfrm>
          <a:prstGeom prst="rect">
            <a:avLst/>
          </a:prstGeom>
          <a:noFill/>
          <a:ln/>
        </p:spPr>
        <p:txBody>
          <a:bodyPr wrap="square" lIns="0" tIns="0" rIns="0" bIns="0" rtlCol="0" anchor="ctr">
            <a:normAutofit/>
          </a:bodyPr>
          <a:lstStyle/>
          <a:p>
            <a:pPr algn="ctr" indent="0" marL="0">
              <a:buNone/>
            </a:pPr>
            <a:r>
              <a:rPr lang="en-US" sz="860" b="1" dirty="0">
                <a:solidFill>
                  <a:srgbClr val="374151"/>
                </a:solidFill>
                <a:latin typeface="Aptos" pitchFamily="34" charset="0"/>
                <a:ea typeface="Aptos" pitchFamily="34" charset="-122"/>
                <a:cs typeface="Aptos" pitchFamily="34" charset="-120"/>
              </a:rPr>
              <a:t>Sourced</a:t>
            </a:r>
            <a:endParaRPr lang="en-US" sz="860" dirty="0"/>
          </a:p>
        </p:txBody>
      </p:sp>
      <p:sp>
        <p:nvSpPr>
          <p:cNvPr id="11" name="Text 9"/>
          <p:cNvSpPr/>
          <p:nvPr/>
        </p:nvSpPr>
        <p:spPr>
          <a:xfrm>
            <a:off x="640080" y="5193792"/>
            <a:ext cx="969264" cy="182880"/>
          </a:xfrm>
          <a:prstGeom prst="rect">
            <a:avLst/>
          </a:prstGeom>
          <a:noFill/>
          <a:ln/>
        </p:spPr>
        <p:txBody>
          <a:bodyPr wrap="square" lIns="0" tIns="0" rIns="0" bIns="0" rtlCol="0" anchor="ctr"/>
          <a:lstStyle/>
          <a:p>
            <a:pPr algn="ctr" indent="0" marL="0">
              <a:buNone/>
            </a:pPr>
            <a:r>
              <a:rPr lang="en-US" sz="830" dirty="0">
                <a:solidFill>
                  <a:srgbClr val="6B7280"/>
                </a:solidFill>
                <a:latin typeface="Aptos" pitchFamily="34" charset="0"/>
                <a:ea typeface="Aptos" pitchFamily="34" charset="-122"/>
                <a:cs typeface="Aptos" pitchFamily="34" charset="-120"/>
              </a:rPr>
              <a:t>100.0%</a:t>
            </a:r>
            <a:endParaRPr lang="en-US" sz="830" dirty="0"/>
          </a:p>
        </p:txBody>
      </p:sp>
      <p:sp>
        <p:nvSpPr>
          <p:cNvPr id="12" name="Shape 10"/>
          <p:cNvSpPr/>
          <p:nvPr/>
        </p:nvSpPr>
        <p:spPr>
          <a:xfrm>
            <a:off x="1764792" y="2830532"/>
            <a:ext cx="694944" cy="1924348"/>
          </a:xfrm>
          <a:prstGeom prst="rect">
            <a:avLst/>
          </a:prstGeom>
          <a:solidFill>
            <a:srgbClr val="2563EB"/>
          </a:solidFill>
          <a:ln w="12700">
            <a:solidFill>
              <a:srgbClr val="2563EB"/>
            </a:solidFill>
            <a:prstDash val="solid"/>
          </a:ln>
        </p:spPr>
      </p:sp>
      <p:sp>
        <p:nvSpPr>
          <p:cNvPr id="13" name="Text 11"/>
          <p:cNvSpPr/>
          <p:nvPr/>
        </p:nvSpPr>
        <p:spPr>
          <a:xfrm>
            <a:off x="1719072" y="2510492"/>
            <a:ext cx="786384" cy="201168"/>
          </a:xfrm>
          <a:prstGeom prst="rect">
            <a:avLst/>
          </a:prstGeom>
          <a:noFill/>
          <a:ln/>
        </p:spPr>
        <p:txBody>
          <a:bodyPr wrap="square" lIns="0" tIns="0" rIns="0" bIns="0" rtlCol="0" anchor="ctr"/>
          <a:lstStyle/>
          <a:p>
            <a:pPr algn="ctr" indent="0" marL="0">
              <a:buNone/>
            </a:pPr>
            <a:r>
              <a:rPr lang="en-US" sz="1600" b="1" dirty="0">
                <a:solidFill>
                  <a:srgbClr val="111827"/>
                </a:solidFill>
                <a:latin typeface="Aptos Display" pitchFamily="34" charset="0"/>
                <a:ea typeface="Aptos Display" pitchFamily="34" charset="-122"/>
                <a:cs typeface="Aptos Display" pitchFamily="34" charset="-120"/>
              </a:rPr>
              <a:t>408</a:t>
            </a:r>
            <a:endParaRPr lang="en-US" sz="1600" dirty="0"/>
          </a:p>
        </p:txBody>
      </p:sp>
      <p:sp>
        <p:nvSpPr>
          <p:cNvPr id="14" name="Text 12"/>
          <p:cNvSpPr/>
          <p:nvPr/>
        </p:nvSpPr>
        <p:spPr>
          <a:xfrm>
            <a:off x="1627632" y="4892040"/>
            <a:ext cx="969264" cy="201168"/>
          </a:xfrm>
          <a:prstGeom prst="rect">
            <a:avLst/>
          </a:prstGeom>
          <a:noFill/>
          <a:ln/>
        </p:spPr>
        <p:txBody>
          <a:bodyPr wrap="square" lIns="0" tIns="0" rIns="0" bIns="0" rtlCol="0" anchor="ctr">
            <a:normAutofit/>
          </a:bodyPr>
          <a:lstStyle/>
          <a:p>
            <a:pPr algn="ctr" indent="0" marL="0">
              <a:buNone/>
            </a:pPr>
            <a:r>
              <a:rPr lang="en-US" sz="860" b="1" dirty="0">
                <a:solidFill>
                  <a:srgbClr val="374151"/>
                </a:solidFill>
                <a:latin typeface="Aptos" pitchFamily="34" charset="0"/>
                <a:ea typeface="Aptos" pitchFamily="34" charset="-122"/>
                <a:cs typeface="Aptos" pitchFamily="34" charset="-120"/>
              </a:rPr>
              <a:t>Responded</a:t>
            </a:r>
            <a:endParaRPr lang="en-US" sz="860" dirty="0"/>
          </a:p>
        </p:txBody>
      </p:sp>
      <p:sp>
        <p:nvSpPr>
          <p:cNvPr id="15" name="Text 13"/>
          <p:cNvSpPr/>
          <p:nvPr/>
        </p:nvSpPr>
        <p:spPr>
          <a:xfrm>
            <a:off x="1627632" y="5193792"/>
            <a:ext cx="969264" cy="182880"/>
          </a:xfrm>
          <a:prstGeom prst="rect">
            <a:avLst/>
          </a:prstGeom>
          <a:noFill/>
          <a:ln/>
        </p:spPr>
        <p:txBody>
          <a:bodyPr wrap="square" lIns="0" tIns="0" rIns="0" bIns="0" rtlCol="0" anchor="ctr"/>
          <a:lstStyle/>
          <a:p>
            <a:pPr algn="ctr" indent="0" marL="0">
              <a:buNone/>
            </a:pPr>
            <a:r>
              <a:rPr lang="en-US" sz="830" dirty="0">
                <a:solidFill>
                  <a:srgbClr val="6B7280"/>
                </a:solidFill>
                <a:latin typeface="Aptos" pitchFamily="34" charset="0"/>
                <a:ea typeface="Aptos" pitchFamily="34" charset="-122"/>
                <a:cs typeface="Aptos" pitchFamily="34" charset="-120"/>
              </a:rPr>
              <a:t>67.9%</a:t>
            </a:r>
            <a:endParaRPr lang="en-US" sz="830" dirty="0"/>
          </a:p>
        </p:txBody>
      </p:sp>
      <p:sp>
        <p:nvSpPr>
          <p:cNvPr id="16" name="Shape 14"/>
          <p:cNvSpPr/>
          <p:nvPr/>
        </p:nvSpPr>
        <p:spPr>
          <a:xfrm>
            <a:off x="2752344" y="3302186"/>
            <a:ext cx="694944" cy="1452694"/>
          </a:xfrm>
          <a:prstGeom prst="rect">
            <a:avLst/>
          </a:prstGeom>
          <a:solidFill>
            <a:srgbClr val="2563EB"/>
          </a:solidFill>
          <a:ln w="12700">
            <a:solidFill>
              <a:srgbClr val="2563EB"/>
            </a:solidFill>
            <a:prstDash val="solid"/>
          </a:ln>
        </p:spPr>
      </p:sp>
      <p:sp>
        <p:nvSpPr>
          <p:cNvPr id="17" name="Text 15"/>
          <p:cNvSpPr/>
          <p:nvPr/>
        </p:nvSpPr>
        <p:spPr>
          <a:xfrm>
            <a:off x="2706624" y="2982146"/>
            <a:ext cx="786384" cy="201168"/>
          </a:xfrm>
          <a:prstGeom prst="rect">
            <a:avLst/>
          </a:prstGeom>
          <a:noFill/>
          <a:ln/>
        </p:spPr>
        <p:txBody>
          <a:bodyPr wrap="square" lIns="0" tIns="0" rIns="0" bIns="0" rtlCol="0" anchor="ctr"/>
          <a:lstStyle/>
          <a:p>
            <a:pPr algn="ctr" indent="0" marL="0">
              <a:buNone/>
            </a:pPr>
            <a:r>
              <a:rPr lang="en-US" sz="1600" b="1" dirty="0">
                <a:solidFill>
                  <a:srgbClr val="111827"/>
                </a:solidFill>
                <a:latin typeface="Aptos Display" pitchFamily="34" charset="0"/>
                <a:ea typeface="Aptos Display" pitchFamily="34" charset="-122"/>
                <a:cs typeface="Aptos Display" pitchFamily="34" charset="-120"/>
              </a:rPr>
              <a:t>308</a:t>
            </a:r>
            <a:endParaRPr lang="en-US" sz="1600" dirty="0"/>
          </a:p>
        </p:txBody>
      </p:sp>
      <p:sp>
        <p:nvSpPr>
          <p:cNvPr id="18" name="Text 16"/>
          <p:cNvSpPr/>
          <p:nvPr/>
        </p:nvSpPr>
        <p:spPr>
          <a:xfrm>
            <a:off x="2615184" y="4892040"/>
            <a:ext cx="969264" cy="201168"/>
          </a:xfrm>
          <a:prstGeom prst="rect">
            <a:avLst/>
          </a:prstGeom>
          <a:noFill/>
          <a:ln/>
        </p:spPr>
        <p:txBody>
          <a:bodyPr wrap="square" lIns="0" tIns="0" rIns="0" bIns="0" rtlCol="0" anchor="ctr">
            <a:normAutofit/>
          </a:bodyPr>
          <a:lstStyle/>
          <a:p>
            <a:pPr algn="ctr" indent="0" marL="0">
              <a:buNone/>
            </a:pPr>
            <a:r>
              <a:rPr lang="en-US" sz="860" b="1" dirty="0">
                <a:solidFill>
                  <a:srgbClr val="374151"/>
                </a:solidFill>
                <a:latin typeface="Aptos" pitchFamily="34" charset="0"/>
                <a:ea typeface="Aptos" pitchFamily="34" charset="-122"/>
                <a:cs typeface="Aptos" pitchFamily="34" charset="-120"/>
              </a:rPr>
              <a:t>Screening</a:t>
            </a:r>
            <a:endParaRPr lang="en-US" sz="860" dirty="0"/>
          </a:p>
        </p:txBody>
      </p:sp>
      <p:sp>
        <p:nvSpPr>
          <p:cNvPr id="19" name="Text 17"/>
          <p:cNvSpPr/>
          <p:nvPr/>
        </p:nvSpPr>
        <p:spPr>
          <a:xfrm>
            <a:off x="2615184" y="5193792"/>
            <a:ext cx="969264" cy="182880"/>
          </a:xfrm>
          <a:prstGeom prst="rect">
            <a:avLst/>
          </a:prstGeom>
          <a:noFill/>
          <a:ln/>
        </p:spPr>
        <p:txBody>
          <a:bodyPr wrap="square" lIns="0" tIns="0" rIns="0" bIns="0" rtlCol="0" anchor="ctr"/>
          <a:lstStyle/>
          <a:p>
            <a:pPr algn="ctr" indent="0" marL="0">
              <a:buNone/>
            </a:pPr>
            <a:r>
              <a:rPr lang="en-US" sz="830" dirty="0">
                <a:solidFill>
                  <a:srgbClr val="6B7280"/>
                </a:solidFill>
                <a:latin typeface="Aptos" pitchFamily="34" charset="0"/>
                <a:ea typeface="Aptos" pitchFamily="34" charset="-122"/>
                <a:cs typeface="Aptos" pitchFamily="34" charset="-120"/>
              </a:rPr>
              <a:t>51.2%</a:t>
            </a:r>
            <a:endParaRPr lang="en-US" sz="830" dirty="0"/>
          </a:p>
        </p:txBody>
      </p:sp>
      <p:sp>
        <p:nvSpPr>
          <p:cNvPr id="20" name="Shape 18"/>
          <p:cNvSpPr/>
          <p:nvPr/>
        </p:nvSpPr>
        <p:spPr>
          <a:xfrm>
            <a:off x="3739896" y="3651210"/>
            <a:ext cx="694944" cy="1103670"/>
          </a:xfrm>
          <a:prstGeom prst="rect">
            <a:avLst/>
          </a:prstGeom>
          <a:solidFill>
            <a:srgbClr val="2563EB"/>
          </a:solidFill>
          <a:ln w="12700">
            <a:solidFill>
              <a:srgbClr val="2563EB"/>
            </a:solidFill>
            <a:prstDash val="solid"/>
          </a:ln>
        </p:spPr>
      </p:sp>
      <p:sp>
        <p:nvSpPr>
          <p:cNvPr id="21" name="Text 19"/>
          <p:cNvSpPr/>
          <p:nvPr/>
        </p:nvSpPr>
        <p:spPr>
          <a:xfrm>
            <a:off x="3694176" y="3331170"/>
            <a:ext cx="786384" cy="201168"/>
          </a:xfrm>
          <a:prstGeom prst="rect">
            <a:avLst/>
          </a:prstGeom>
          <a:noFill/>
          <a:ln/>
        </p:spPr>
        <p:txBody>
          <a:bodyPr wrap="square" lIns="0" tIns="0" rIns="0" bIns="0" rtlCol="0" anchor="ctr"/>
          <a:lstStyle/>
          <a:p>
            <a:pPr algn="ctr" indent="0" marL="0">
              <a:buNone/>
            </a:pPr>
            <a:r>
              <a:rPr lang="en-US" sz="1600" b="1" dirty="0">
                <a:solidFill>
                  <a:srgbClr val="111827"/>
                </a:solidFill>
                <a:latin typeface="Aptos Display" pitchFamily="34" charset="0"/>
                <a:ea typeface="Aptos Display" pitchFamily="34" charset="-122"/>
                <a:cs typeface="Aptos Display" pitchFamily="34" charset="-120"/>
              </a:rPr>
              <a:t>234</a:t>
            </a:r>
            <a:endParaRPr lang="en-US" sz="1600" dirty="0"/>
          </a:p>
        </p:txBody>
      </p:sp>
      <p:sp>
        <p:nvSpPr>
          <p:cNvPr id="22" name="Text 20"/>
          <p:cNvSpPr/>
          <p:nvPr/>
        </p:nvSpPr>
        <p:spPr>
          <a:xfrm>
            <a:off x="3602736" y="4892040"/>
            <a:ext cx="969264" cy="201168"/>
          </a:xfrm>
          <a:prstGeom prst="rect">
            <a:avLst/>
          </a:prstGeom>
          <a:noFill/>
          <a:ln/>
        </p:spPr>
        <p:txBody>
          <a:bodyPr wrap="square" lIns="0" tIns="0" rIns="0" bIns="0" rtlCol="0" anchor="ctr">
            <a:normAutofit/>
          </a:bodyPr>
          <a:lstStyle/>
          <a:p>
            <a:pPr algn="ctr" indent="0" marL="0">
              <a:buNone/>
            </a:pPr>
            <a:r>
              <a:rPr lang="en-US" sz="860" b="1" dirty="0">
                <a:solidFill>
                  <a:srgbClr val="374151"/>
                </a:solidFill>
                <a:latin typeface="Aptos" pitchFamily="34" charset="0"/>
                <a:ea typeface="Aptos" pitchFamily="34" charset="-122"/>
                <a:cs typeface="Aptos" pitchFamily="34" charset="-120"/>
              </a:rPr>
              <a:t>Interview 1</a:t>
            </a:r>
            <a:endParaRPr lang="en-US" sz="860" dirty="0"/>
          </a:p>
        </p:txBody>
      </p:sp>
      <p:sp>
        <p:nvSpPr>
          <p:cNvPr id="23" name="Text 21"/>
          <p:cNvSpPr/>
          <p:nvPr/>
        </p:nvSpPr>
        <p:spPr>
          <a:xfrm>
            <a:off x="3602736" y="5193792"/>
            <a:ext cx="969264" cy="182880"/>
          </a:xfrm>
          <a:prstGeom prst="rect">
            <a:avLst/>
          </a:prstGeom>
          <a:noFill/>
          <a:ln/>
        </p:spPr>
        <p:txBody>
          <a:bodyPr wrap="square" lIns="0" tIns="0" rIns="0" bIns="0" rtlCol="0" anchor="ctr"/>
          <a:lstStyle/>
          <a:p>
            <a:pPr algn="ctr" indent="0" marL="0">
              <a:buNone/>
            </a:pPr>
            <a:r>
              <a:rPr lang="en-US" sz="830" dirty="0">
                <a:solidFill>
                  <a:srgbClr val="6B7280"/>
                </a:solidFill>
                <a:latin typeface="Aptos" pitchFamily="34" charset="0"/>
                <a:ea typeface="Aptos" pitchFamily="34" charset="-122"/>
                <a:cs typeface="Aptos" pitchFamily="34" charset="-120"/>
              </a:rPr>
              <a:t>38.9%</a:t>
            </a:r>
            <a:endParaRPr lang="en-US" sz="830" dirty="0"/>
          </a:p>
        </p:txBody>
      </p:sp>
      <p:sp>
        <p:nvSpPr>
          <p:cNvPr id="24" name="Shape 22"/>
          <p:cNvSpPr/>
          <p:nvPr/>
        </p:nvSpPr>
        <p:spPr>
          <a:xfrm>
            <a:off x="4727448" y="3806856"/>
            <a:ext cx="694944" cy="948024"/>
          </a:xfrm>
          <a:prstGeom prst="rect">
            <a:avLst/>
          </a:prstGeom>
          <a:solidFill>
            <a:srgbClr val="F97316"/>
          </a:solidFill>
          <a:ln w="12700">
            <a:solidFill>
              <a:srgbClr val="F97316"/>
            </a:solidFill>
            <a:prstDash val="solid"/>
          </a:ln>
        </p:spPr>
      </p:sp>
      <p:sp>
        <p:nvSpPr>
          <p:cNvPr id="25" name="Text 23"/>
          <p:cNvSpPr/>
          <p:nvPr/>
        </p:nvSpPr>
        <p:spPr>
          <a:xfrm>
            <a:off x="4681728" y="3486816"/>
            <a:ext cx="786384" cy="201168"/>
          </a:xfrm>
          <a:prstGeom prst="rect">
            <a:avLst/>
          </a:prstGeom>
          <a:noFill/>
          <a:ln/>
        </p:spPr>
        <p:txBody>
          <a:bodyPr wrap="square" lIns="0" tIns="0" rIns="0" bIns="0" rtlCol="0" anchor="ctr"/>
          <a:lstStyle/>
          <a:p>
            <a:pPr algn="ctr" indent="0" marL="0">
              <a:buNone/>
            </a:pPr>
            <a:r>
              <a:rPr lang="en-US" sz="1600" b="1" dirty="0">
                <a:solidFill>
                  <a:srgbClr val="111827"/>
                </a:solidFill>
                <a:latin typeface="Aptos Display" pitchFamily="34" charset="0"/>
                <a:ea typeface="Aptos Display" pitchFamily="34" charset="-122"/>
                <a:cs typeface="Aptos Display" pitchFamily="34" charset="-120"/>
              </a:rPr>
              <a:t>201</a:t>
            </a:r>
            <a:endParaRPr lang="en-US" sz="1600" dirty="0"/>
          </a:p>
        </p:txBody>
      </p:sp>
      <p:sp>
        <p:nvSpPr>
          <p:cNvPr id="26" name="Text 24"/>
          <p:cNvSpPr/>
          <p:nvPr/>
        </p:nvSpPr>
        <p:spPr>
          <a:xfrm>
            <a:off x="4590288" y="4892040"/>
            <a:ext cx="969264" cy="201168"/>
          </a:xfrm>
          <a:prstGeom prst="rect">
            <a:avLst/>
          </a:prstGeom>
          <a:noFill/>
          <a:ln/>
        </p:spPr>
        <p:txBody>
          <a:bodyPr wrap="square" lIns="0" tIns="0" rIns="0" bIns="0" rtlCol="0" anchor="ctr">
            <a:normAutofit/>
          </a:bodyPr>
          <a:lstStyle/>
          <a:p>
            <a:pPr algn="ctr" indent="0" marL="0">
              <a:buNone/>
            </a:pPr>
            <a:r>
              <a:rPr lang="en-US" sz="860" b="1" dirty="0">
                <a:solidFill>
                  <a:srgbClr val="374151"/>
                </a:solidFill>
                <a:latin typeface="Aptos" pitchFamily="34" charset="0"/>
                <a:ea typeface="Aptos" pitchFamily="34" charset="-122"/>
                <a:cs typeface="Aptos" pitchFamily="34" charset="-120"/>
              </a:rPr>
              <a:t>Test</a:t>
            </a:r>
            <a:endParaRPr lang="en-US" sz="860" dirty="0"/>
          </a:p>
        </p:txBody>
      </p:sp>
      <p:sp>
        <p:nvSpPr>
          <p:cNvPr id="27" name="Text 25"/>
          <p:cNvSpPr/>
          <p:nvPr/>
        </p:nvSpPr>
        <p:spPr>
          <a:xfrm>
            <a:off x="4590288" y="5193792"/>
            <a:ext cx="969264" cy="182880"/>
          </a:xfrm>
          <a:prstGeom prst="rect">
            <a:avLst/>
          </a:prstGeom>
          <a:noFill/>
          <a:ln/>
        </p:spPr>
        <p:txBody>
          <a:bodyPr wrap="square" lIns="0" tIns="0" rIns="0" bIns="0" rtlCol="0" anchor="ctr"/>
          <a:lstStyle/>
          <a:p>
            <a:pPr algn="ctr" indent="0" marL="0">
              <a:buNone/>
            </a:pPr>
            <a:r>
              <a:rPr lang="en-US" sz="830" dirty="0">
                <a:solidFill>
                  <a:srgbClr val="6B7280"/>
                </a:solidFill>
                <a:latin typeface="Aptos" pitchFamily="34" charset="0"/>
                <a:ea typeface="Aptos" pitchFamily="34" charset="-122"/>
                <a:cs typeface="Aptos" pitchFamily="34" charset="-120"/>
              </a:rPr>
              <a:t>33.4%</a:t>
            </a:r>
            <a:endParaRPr lang="en-US" sz="830" dirty="0"/>
          </a:p>
        </p:txBody>
      </p:sp>
      <p:sp>
        <p:nvSpPr>
          <p:cNvPr id="28" name="Shape 26"/>
          <p:cNvSpPr/>
          <p:nvPr/>
        </p:nvSpPr>
        <p:spPr>
          <a:xfrm>
            <a:off x="5715000" y="4462455"/>
            <a:ext cx="694944" cy="292425"/>
          </a:xfrm>
          <a:prstGeom prst="rect">
            <a:avLst/>
          </a:prstGeom>
          <a:solidFill>
            <a:srgbClr val="DC2626"/>
          </a:solidFill>
          <a:ln w="12700">
            <a:solidFill>
              <a:srgbClr val="DC2626"/>
            </a:solidFill>
            <a:prstDash val="solid"/>
          </a:ln>
        </p:spPr>
      </p:sp>
      <p:sp>
        <p:nvSpPr>
          <p:cNvPr id="29" name="Text 27"/>
          <p:cNvSpPr/>
          <p:nvPr/>
        </p:nvSpPr>
        <p:spPr>
          <a:xfrm>
            <a:off x="5669280" y="4142415"/>
            <a:ext cx="786384" cy="201168"/>
          </a:xfrm>
          <a:prstGeom prst="rect">
            <a:avLst/>
          </a:prstGeom>
          <a:noFill/>
          <a:ln/>
        </p:spPr>
        <p:txBody>
          <a:bodyPr wrap="square" lIns="0" tIns="0" rIns="0" bIns="0" rtlCol="0" anchor="ctr"/>
          <a:lstStyle/>
          <a:p>
            <a:pPr algn="ctr" indent="0" marL="0">
              <a:buNone/>
            </a:pPr>
            <a:r>
              <a:rPr lang="en-US" sz="1600" b="1" dirty="0">
                <a:solidFill>
                  <a:srgbClr val="111827"/>
                </a:solidFill>
                <a:latin typeface="Aptos Display" pitchFamily="34" charset="0"/>
                <a:ea typeface="Aptos Display" pitchFamily="34" charset="-122"/>
                <a:cs typeface="Aptos Display" pitchFamily="34" charset="-120"/>
              </a:rPr>
              <a:t>62</a:t>
            </a:r>
            <a:endParaRPr lang="en-US" sz="1600" dirty="0"/>
          </a:p>
        </p:txBody>
      </p:sp>
      <p:sp>
        <p:nvSpPr>
          <p:cNvPr id="30" name="Text 28"/>
          <p:cNvSpPr/>
          <p:nvPr/>
        </p:nvSpPr>
        <p:spPr>
          <a:xfrm>
            <a:off x="5577840" y="4892040"/>
            <a:ext cx="969264" cy="201168"/>
          </a:xfrm>
          <a:prstGeom prst="rect">
            <a:avLst/>
          </a:prstGeom>
          <a:noFill/>
          <a:ln/>
        </p:spPr>
        <p:txBody>
          <a:bodyPr wrap="square" lIns="0" tIns="0" rIns="0" bIns="0" rtlCol="0" anchor="ctr">
            <a:normAutofit/>
          </a:bodyPr>
          <a:lstStyle/>
          <a:p>
            <a:pPr algn="ctr" indent="0" marL="0">
              <a:buNone/>
            </a:pPr>
            <a:r>
              <a:rPr lang="en-US" sz="860" b="1" dirty="0">
                <a:solidFill>
                  <a:srgbClr val="374151"/>
                </a:solidFill>
                <a:latin typeface="Aptos" pitchFamily="34" charset="0"/>
                <a:ea typeface="Aptos" pitchFamily="34" charset="-122"/>
                <a:cs typeface="Aptos" pitchFamily="34" charset="-120"/>
              </a:rPr>
              <a:t>Offer</a:t>
            </a:r>
            <a:endParaRPr lang="en-US" sz="860" dirty="0"/>
          </a:p>
        </p:txBody>
      </p:sp>
      <p:sp>
        <p:nvSpPr>
          <p:cNvPr id="31" name="Text 29"/>
          <p:cNvSpPr/>
          <p:nvPr/>
        </p:nvSpPr>
        <p:spPr>
          <a:xfrm>
            <a:off x="5577840" y="5193792"/>
            <a:ext cx="969264" cy="182880"/>
          </a:xfrm>
          <a:prstGeom prst="rect">
            <a:avLst/>
          </a:prstGeom>
          <a:noFill/>
          <a:ln/>
        </p:spPr>
        <p:txBody>
          <a:bodyPr wrap="square" lIns="0" tIns="0" rIns="0" bIns="0" rtlCol="0" anchor="ctr"/>
          <a:lstStyle/>
          <a:p>
            <a:pPr algn="ctr" indent="0" marL="0">
              <a:buNone/>
            </a:pPr>
            <a:r>
              <a:rPr lang="en-US" sz="830" dirty="0">
                <a:solidFill>
                  <a:srgbClr val="6B7280"/>
                </a:solidFill>
                <a:latin typeface="Aptos" pitchFamily="34" charset="0"/>
                <a:ea typeface="Aptos" pitchFamily="34" charset="-122"/>
                <a:cs typeface="Aptos" pitchFamily="34" charset="-120"/>
              </a:rPr>
              <a:t>10.3%</a:t>
            </a:r>
            <a:endParaRPr lang="en-US" sz="830" dirty="0"/>
          </a:p>
        </p:txBody>
      </p:sp>
      <p:sp>
        <p:nvSpPr>
          <p:cNvPr id="32" name="Shape 30"/>
          <p:cNvSpPr/>
          <p:nvPr/>
        </p:nvSpPr>
        <p:spPr>
          <a:xfrm>
            <a:off x="6702552" y="4523770"/>
            <a:ext cx="694944" cy="231110"/>
          </a:xfrm>
          <a:prstGeom prst="rect">
            <a:avLst/>
          </a:prstGeom>
          <a:solidFill>
            <a:srgbClr val="16A34A"/>
          </a:solidFill>
          <a:ln w="12700">
            <a:solidFill>
              <a:srgbClr val="16A34A"/>
            </a:solidFill>
            <a:prstDash val="solid"/>
          </a:ln>
        </p:spPr>
      </p:sp>
      <p:sp>
        <p:nvSpPr>
          <p:cNvPr id="33" name="Text 31"/>
          <p:cNvSpPr/>
          <p:nvPr/>
        </p:nvSpPr>
        <p:spPr>
          <a:xfrm>
            <a:off x="6656832" y="4203730"/>
            <a:ext cx="786384" cy="201168"/>
          </a:xfrm>
          <a:prstGeom prst="rect">
            <a:avLst/>
          </a:prstGeom>
          <a:noFill/>
          <a:ln/>
        </p:spPr>
        <p:txBody>
          <a:bodyPr wrap="square" lIns="0" tIns="0" rIns="0" bIns="0" rtlCol="0" anchor="ctr"/>
          <a:lstStyle/>
          <a:p>
            <a:pPr algn="ctr" indent="0" marL="0">
              <a:buNone/>
            </a:pPr>
            <a:r>
              <a:rPr lang="en-US" sz="1600" b="1" dirty="0">
                <a:solidFill>
                  <a:srgbClr val="111827"/>
                </a:solidFill>
                <a:latin typeface="Aptos Display" pitchFamily="34" charset="0"/>
                <a:ea typeface="Aptos Display" pitchFamily="34" charset="-122"/>
                <a:cs typeface="Aptos Display" pitchFamily="34" charset="-120"/>
              </a:rPr>
              <a:t>49</a:t>
            </a:r>
            <a:endParaRPr lang="en-US" sz="1600" dirty="0"/>
          </a:p>
        </p:txBody>
      </p:sp>
      <p:sp>
        <p:nvSpPr>
          <p:cNvPr id="34" name="Text 32"/>
          <p:cNvSpPr/>
          <p:nvPr/>
        </p:nvSpPr>
        <p:spPr>
          <a:xfrm>
            <a:off x="6565392" y="4892040"/>
            <a:ext cx="969264" cy="201168"/>
          </a:xfrm>
          <a:prstGeom prst="rect">
            <a:avLst/>
          </a:prstGeom>
          <a:noFill/>
          <a:ln/>
        </p:spPr>
        <p:txBody>
          <a:bodyPr wrap="square" lIns="0" tIns="0" rIns="0" bIns="0" rtlCol="0" anchor="ctr">
            <a:normAutofit/>
          </a:bodyPr>
          <a:lstStyle/>
          <a:p>
            <a:pPr algn="ctr" indent="0" marL="0">
              <a:buNone/>
            </a:pPr>
            <a:r>
              <a:rPr lang="en-US" sz="860" b="1" dirty="0">
                <a:solidFill>
                  <a:srgbClr val="374151"/>
                </a:solidFill>
                <a:latin typeface="Aptos" pitchFamily="34" charset="0"/>
                <a:ea typeface="Aptos" pitchFamily="34" charset="-122"/>
                <a:cs typeface="Aptos" pitchFamily="34" charset="-120"/>
              </a:rPr>
              <a:t>Hired</a:t>
            </a:r>
            <a:endParaRPr lang="en-US" sz="860" dirty="0"/>
          </a:p>
        </p:txBody>
      </p:sp>
      <p:sp>
        <p:nvSpPr>
          <p:cNvPr id="35" name="Text 33"/>
          <p:cNvSpPr/>
          <p:nvPr/>
        </p:nvSpPr>
        <p:spPr>
          <a:xfrm>
            <a:off x="6565392" y="5193792"/>
            <a:ext cx="969264" cy="182880"/>
          </a:xfrm>
          <a:prstGeom prst="rect">
            <a:avLst/>
          </a:prstGeom>
          <a:noFill/>
          <a:ln/>
        </p:spPr>
        <p:txBody>
          <a:bodyPr wrap="square" lIns="0" tIns="0" rIns="0" bIns="0" rtlCol="0" anchor="ctr"/>
          <a:lstStyle/>
          <a:p>
            <a:pPr algn="ctr" indent="0" marL="0">
              <a:buNone/>
            </a:pPr>
            <a:r>
              <a:rPr lang="en-US" sz="830" dirty="0">
                <a:solidFill>
                  <a:srgbClr val="6B7280"/>
                </a:solidFill>
                <a:latin typeface="Aptos" pitchFamily="34" charset="0"/>
                <a:ea typeface="Aptos" pitchFamily="34" charset="-122"/>
                <a:cs typeface="Aptos" pitchFamily="34" charset="-120"/>
              </a:rPr>
              <a:t>8.2%</a:t>
            </a:r>
            <a:endParaRPr lang="en-US" sz="830" dirty="0"/>
          </a:p>
        </p:txBody>
      </p:sp>
      <p:sp>
        <p:nvSpPr>
          <p:cNvPr id="36" name="Shape 34"/>
          <p:cNvSpPr/>
          <p:nvPr/>
        </p:nvSpPr>
        <p:spPr>
          <a:xfrm>
            <a:off x="8001000" y="1920240"/>
            <a:ext cx="3246120" cy="749808"/>
          </a:xfrm>
          <a:prstGeom prst="roundRect">
            <a:avLst>
              <a:gd name="adj" fmla="val 9756"/>
            </a:avLst>
          </a:prstGeom>
          <a:solidFill>
            <a:srgbClr val="FEE2E2"/>
          </a:solidFill>
          <a:ln w="12700">
            <a:solidFill>
              <a:srgbClr val="DC2626">
                <a:alpha val="75000"/>
              </a:srgbClr>
            </a:solidFill>
            <a:prstDash val="solid"/>
          </a:ln>
        </p:spPr>
      </p:sp>
      <p:sp>
        <p:nvSpPr>
          <p:cNvPr id="37" name="Text 35"/>
          <p:cNvSpPr/>
          <p:nvPr/>
        </p:nvSpPr>
        <p:spPr>
          <a:xfrm>
            <a:off x="8165592" y="2066544"/>
            <a:ext cx="2916936" cy="493776"/>
          </a:xfrm>
          <a:prstGeom prst="rect">
            <a:avLst/>
          </a:prstGeom>
          <a:noFill/>
          <a:ln/>
        </p:spPr>
        <p:txBody>
          <a:bodyPr wrap="square" lIns="254" tIns="254" rIns="254" bIns="254" rtlCol="0" anchor="ctr">
            <a:normAutofit/>
          </a:bodyPr>
          <a:lstStyle/>
          <a:p>
            <a:pPr indent="0" marL="0">
              <a:buNone/>
            </a:pPr>
            <a:r>
              <a:rPr lang="en-US" sz="1200" b="1" dirty="0">
                <a:solidFill>
                  <a:srgbClr val="111827"/>
                </a:solidFill>
                <a:latin typeface="Aptos" pitchFamily="34" charset="0"/>
                <a:ea typeface="Aptos" pitchFamily="34" charset="-122"/>
                <a:cs typeface="Aptos" pitchFamily="34" charset="-120"/>
              </a:rPr>
              <a:t>Only 30.8% of candidates who took the test received an offer.</a:t>
            </a:r>
            <a:endParaRPr lang="en-US" sz="1200" dirty="0"/>
          </a:p>
        </p:txBody>
      </p:sp>
      <p:sp>
        <p:nvSpPr>
          <p:cNvPr id="38" name="Text 36"/>
          <p:cNvSpPr/>
          <p:nvPr/>
        </p:nvSpPr>
        <p:spPr>
          <a:xfrm>
            <a:off x="8001000" y="3063240"/>
            <a:ext cx="2011680" cy="256032"/>
          </a:xfrm>
          <a:prstGeom prst="rect">
            <a:avLst/>
          </a:prstGeom>
          <a:noFill/>
          <a:ln/>
        </p:spPr>
        <p:txBody>
          <a:bodyPr wrap="square" lIns="0" tIns="0" rIns="0" bIns="0" rtlCol="0" anchor="ctr"/>
          <a:lstStyle/>
          <a:p>
            <a:pPr indent="0" marL="0">
              <a:buNone/>
            </a:pPr>
            <a:r>
              <a:rPr lang="en-US" sz="1200" b="1" dirty="0">
                <a:solidFill>
                  <a:srgbClr val="111827"/>
                </a:solidFill>
                <a:latin typeface="Aptos" pitchFamily="34" charset="0"/>
                <a:ea typeface="Aptos" pitchFamily="34" charset="-122"/>
                <a:cs typeface="Aptos" pitchFamily="34" charset="-120"/>
              </a:rPr>
              <a:t>Interpretation</a:t>
            </a:r>
            <a:endParaRPr lang="en-US" sz="1200" dirty="0"/>
          </a:p>
        </p:txBody>
      </p:sp>
      <p:sp>
        <p:nvSpPr>
          <p:cNvPr id="39" name="Text 37"/>
          <p:cNvSpPr/>
          <p:nvPr/>
        </p:nvSpPr>
        <p:spPr>
          <a:xfrm>
            <a:off x="8001000" y="3401568"/>
            <a:ext cx="3246120" cy="1097280"/>
          </a:xfrm>
          <a:prstGeom prst="rect">
            <a:avLst/>
          </a:prstGeom>
          <a:noFill/>
          <a:ln/>
        </p:spPr>
        <p:txBody>
          <a:bodyPr wrap="square" lIns="0" tIns="0" rIns="0" bIns="0" rtlCol="0" anchor="ctr">
            <a:normAutofit/>
          </a:bodyPr>
          <a:lstStyle/>
          <a:p>
            <a:pPr indent="0" marL="0">
              <a:buNone/>
            </a:pPr>
            <a:r>
              <a:rPr lang="en-US" sz="1120" dirty="0">
                <a:solidFill>
                  <a:srgbClr val="374151"/>
                </a:solidFill>
                <a:latin typeface="Aptos" pitchFamily="34" charset="0"/>
                <a:ea typeface="Aptos" pitchFamily="34" charset="-122"/>
                <a:cs typeface="Aptos" pitchFamily="34" charset="-120"/>
              </a:rPr>
              <a:t>Candidates are progressing into advanced stages, but the offer decision becomes the sharpest filter. This is where the team should inspect technical readiness, compensation alignment, process timing, and hiring manager calibration.</a:t>
            </a:r>
            <a:endParaRPr lang="en-US" sz="1120" dirty="0"/>
          </a:p>
        </p:txBody>
      </p:sp>
      <p:sp>
        <p:nvSpPr>
          <p:cNvPr id="40" name="Shape 38"/>
          <p:cNvSpPr/>
          <p:nvPr/>
        </p:nvSpPr>
        <p:spPr>
          <a:xfrm>
            <a:off x="8001000" y="4892040"/>
            <a:ext cx="3017520" cy="0"/>
          </a:xfrm>
          <a:prstGeom prst="line">
            <a:avLst/>
          </a:prstGeom>
          <a:noFill/>
          <a:ln w="12700">
            <a:solidFill>
              <a:srgbClr val="E5E7EB"/>
            </a:solidFill>
            <a:prstDash val="solid"/>
          </a:ln>
        </p:spPr>
      </p:sp>
      <p:sp>
        <p:nvSpPr>
          <p:cNvPr id="41" name="Text 39"/>
          <p:cNvSpPr/>
          <p:nvPr/>
        </p:nvSpPr>
        <p:spPr>
          <a:xfrm>
            <a:off x="8001000" y="5230368"/>
            <a:ext cx="2468880" cy="256032"/>
          </a:xfrm>
          <a:prstGeom prst="rect">
            <a:avLst/>
          </a:prstGeom>
          <a:noFill/>
          <a:ln/>
        </p:spPr>
        <p:txBody>
          <a:bodyPr wrap="square" lIns="0" tIns="0" rIns="0" bIns="0" rtlCol="0" anchor="ctr"/>
          <a:lstStyle/>
          <a:p>
            <a:pPr indent="0" marL="0">
              <a:buNone/>
            </a:pPr>
            <a:r>
              <a:rPr lang="en-US" sz="1900" b="1" dirty="0">
                <a:solidFill>
                  <a:srgbClr val="16A34A"/>
                </a:solidFill>
                <a:latin typeface="Aptos Display" pitchFamily="34" charset="0"/>
                <a:ea typeface="Aptos Display" pitchFamily="34" charset="-122"/>
                <a:cs typeface="Aptos Display" pitchFamily="34" charset="-120"/>
              </a:rPr>
              <a:t>Final hired rate: 8.2%</a:t>
            </a: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9FAFB"/>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9FAFB"/>
          </a:solidFill>
          <a:ln w="12700">
            <a:solidFill>
              <a:srgbClr val="F9FAFB">
                <a:alpha val="0"/>
              </a:srgbClr>
            </a:solidFill>
            <a:prstDash val="solid"/>
          </a:ln>
        </p:spPr>
      </p:sp>
      <p:sp>
        <p:nvSpPr>
          <p:cNvPr id="3" name="Shape 1"/>
          <p:cNvSpPr/>
          <p:nvPr/>
        </p:nvSpPr>
        <p:spPr>
          <a:xfrm>
            <a:off x="0" y="0"/>
            <a:ext cx="12191695" cy="109728"/>
          </a:xfrm>
          <a:prstGeom prst="rect">
            <a:avLst/>
          </a:prstGeom>
          <a:solidFill>
            <a:srgbClr val="2563EB"/>
          </a:solidFill>
          <a:ln w="12700">
            <a:solidFill>
              <a:srgbClr val="2563EB"/>
            </a:solidFill>
            <a:prstDash val="solid"/>
          </a:ln>
        </p:spPr>
      </p:sp>
      <p:sp>
        <p:nvSpPr>
          <p:cNvPr id="4" name="Text 2"/>
          <p:cNvSpPr/>
          <p:nvPr/>
        </p:nvSpPr>
        <p:spPr>
          <a:xfrm>
            <a:off x="502920" y="6510528"/>
            <a:ext cx="7132320" cy="164592"/>
          </a:xfrm>
          <a:prstGeom prst="rect">
            <a:avLst/>
          </a:prstGeom>
          <a:noFill/>
          <a:ln/>
        </p:spPr>
        <p:txBody>
          <a:bodyPr wrap="square" lIns="0" tIns="0" rIns="0" bIns="0" rtlCol="0" anchor="ctr"/>
          <a:lstStyle/>
          <a:p>
            <a:pPr indent="0" marL="0">
              <a:buNone/>
            </a:pPr>
            <a:r>
              <a:rPr lang="en-US" sz="700" dirty="0">
                <a:solidFill>
                  <a:srgbClr val="6B7280"/>
                </a:solidFill>
                <a:latin typeface="Aptos" pitchFamily="34" charset="0"/>
                <a:ea typeface="Aptos" pitchFamily="34" charset="-122"/>
                <a:cs typeface="Aptos" pitchFamily="34" charset="-120"/>
              </a:rPr>
              <a:t>Sourcing Analysis with AI  |  Recruiter decision-support view</a:t>
            </a:r>
            <a:endParaRPr lang="en-US" sz="700" dirty="0"/>
          </a:p>
        </p:txBody>
      </p:sp>
      <p:sp>
        <p:nvSpPr>
          <p:cNvPr id="5" name="Text 3"/>
          <p:cNvSpPr/>
          <p:nvPr/>
        </p:nvSpPr>
        <p:spPr>
          <a:xfrm>
            <a:off x="10424160" y="6510528"/>
            <a:ext cx="1280160" cy="164592"/>
          </a:xfrm>
          <a:prstGeom prst="rect">
            <a:avLst/>
          </a:prstGeom>
          <a:noFill/>
          <a:ln/>
        </p:spPr>
        <p:txBody>
          <a:bodyPr wrap="square" lIns="0" tIns="0" rIns="0" bIns="0" rtlCol="0" anchor="ctr"/>
          <a:lstStyle/>
          <a:p>
            <a:pPr algn="r" indent="0" marL="0">
              <a:buNone/>
            </a:pPr>
            <a:r>
              <a:rPr lang="en-US" sz="700" dirty="0">
                <a:solidFill>
                  <a:srgbClr val="6B7280"/>
                </a:solidFill>
                <a:latin typeface="Aptos" pitchFamily="34" charset="0"/>
                <a:ea typeface="Aptos" pitchFamily="34" charset="-122"/>
                <a:cs typeface="Aptos" pitchFamily="34" charset="-120"/>
              </a:rPr>
              <a:t>Fictional dataset</a:t>
            </a:r>
            <a:endParaRPr lang="en-US" sz="700" dirty="0"/>
          </a:p>
        </p:txBody>
      </p:sp>
      <p:sp>
        <p:nvSpPr>
          <p:cNvPr id="6" name="Text 4"/>
          <p:cNvSpPr/>
          <p:nvPr/>
        </p:nvSpPr>
        <p:spPr>
          <a:xfrm>
            <a:off x="594360" y="420624"/>
            <a:ext cx="2377440" cy="228600"/>
          </a:xfrm>
          <a:prstGeom prst="rect">
            <a:avLst/>
          </a:prstGeom>
          <a:noFill/>
          <a:ln/>
        </p:spPr>
        <p:txBody>
          <a:bodyPr wrap="square" lIns="0" tIns="0" rIns="0" bIns="0" rtlCol="0" anchor="ctr"/>
          <a:lstStyle/>
          <a:p>
            <a:pPr indent="0" marL="0">
              <a:buNone/>
            </a:pPr>
            <a:r>
              <a:rPr lang="en-US" sz="900" b="1" dirty="0">
                <a:solidFill>
                  <a:srgbClr val="2563EB"/>
                </a:solidFill>
                <a:latin typeface="Aptos" pitchFamily="34" charset="0"/>
                <a:ea typeface="Aptos" pitchFamily="34" charset="-122"/>
                <a:cs typeface="Aptos" pitchFamily="34" charset="-120"/>
              </a:rPr>
              <a:t>ANALYSIS 02</a:t>
            </a:r>
            <a:endParaRPr lang="en-US" sz="900" dirty="0"/>
          </a:p>
        </p:txBody>
      </p:sp>
      <p:sp>
        <p:nvSpPr>
          <p:cNvPr id="7" name="Text 5"/>
          <p:cNvSpPr/>
          <p:nvPr/>
        </p:nvSpPr>
        <p:spPr>
          <a:xfrm>
            <a:off x="566928" y="694944"/>
            <a:ext cx="7772400" cy="502920"/>
          </a:xfrm>
          <a:prstGeom prst="rect">
            <a:avLst/>
          </a:prstGeom>
          <a:noFill/>
          <a:ln/>
        </p:spPr>
        <p:txBody>
          <a:bodyPr wrap="square" lIns="0" tIns="0" rIns="0" bIns="0" rtlCol="0" anchor="ctr"/>
          <a:lstStyle/>
          <a:p>
            <a:pPr indent="0" marL="0">
              <a:buNone/>
            </a:pPr>
            <a:r>
              <a:rPr lang="en-US" sz="2400" b="1" dirty="0">
                <a:solidFill>
                  <a:srgbClr val="111827"/>
                </a:solidFill>
                <a:latin typeface="Aptos Display" pitchFamily="34" charset="0"/>
                <a:ea typeface="Aptos Display" pitchFamily="34" charset="-122"/>
                <a:cs typeface="Aptos Display" pitchFamily="34" charset="-120"/>
              </a:rPr>
              <a:t>Conversion patterns: quality is not just volume</a:t>
            </a:r>
            <a:endParaRPr lang="en-US" sz="2400" dirty="0"/>
          </a:p>
        </p:txBody>
      </p:sp>
      <p:sp>
        <p:nvSpPr>
          <p:cNvPr id="8" name="Text 6"/>
          <p:cNvSpPr/>
          <p:nvPr/>
        </p:nvSpPr>
        <p:spPr>
          <a:xfrm>
            <a:off x="685800" y="1463040"/>
            <a:ext cx="3108960" cy="201168"/>
          </a:xfrm>
          <a:prstGeom prst="rect">
            <a:avLst/>
          </a:prstGeom>
          <a:noFill/>
          <a:ln/>
        </p:spPr>
        <p:txBody>
          <a:bodyPr wrap="square" lIns="0" tIns="0" rIns="0" bIns="0" rtlCol="0" anchor="ctr"/>
          <a:lstStyle/>
          <a:p>
            <a:pPr indent="0" marL="0">
              <a:buNone/>
            </a:pPr>
            <a:r>
              <a:rPr lang="en-US" sz="820" b="1" dirty="0">
                <a:solidFill>
                  <a:srgbClr val="6B7280"/>
                </a:solidFill>
                <a:latin typeface="Aptos" pitchFamily="34" charset="0"/>
                <a:ea typeface="Aptos" pitchFamily="34" charset="-122"/>
                <a:cs typeface="Aptos" pitchFamily="34" charset="-120"/>
              </a:rPr>
              <a:t>HIRED RATE BY SOURCE CHANNEL</a:t>
            </a:r>
            <a:endParaRPr lang="en-US" sz="820" dirty="0"/>
          </a:p>
        </p:txBody>
      </p:sp>
      <p:sp>
        <p:nvSpPr>
          <p:cNvPr id="9" name="Text 7"/>
          <p:cNvSpPr/>
          <p:nvPr/>
        </p:nvSpPr>
        <p:spPr>
          <a:xfrm>
            <a:off x="713232" y="1773936"/>
            <a:ext cx="2057400" cy="201168"/>
          </a:xfrm>
          <a:prstGeom prst="rect">
            <a:avLst/>
          </a:prstGeom>
          <a:noFill/>
          <a:ln/>
        </p:spPr>
        <p:txBody>
          <a:bodyPr wrap="square" lIns="0" tIns="0" rIns="0" bIns="0" rtlCol="0" anchor="ctr">
            <a:normAutofit/>
          </a:bodyPr>
          <a:lstStyle/>
          <a:p>
            <a:pPr indent="0" marL="0">
              <a:buNone/>
            </a:pPr>
            <a:r>
              <a:rPr lang="en-US" sz="920" b="1" dirty="0">
                <a:solidFill>
                  <a:srgbClr val="111827"/>
                </a:solidFill>
                <a:latin typeface="Aptos" pitchFamily="34" charset="0"/>
                <a:ea typeface="Aptos" pitchFamily="34" charset="-122"/>
                <a:cs typeface="Aptos" pitchFamily="34" charset="-120"/>
              </a:rPr>
              <a:t>Github</a:t>
            </a:r>
            <a:endParaRPr lang="en-US" sz="920" dirty="0"/>
          </a:p>
        </p:txBody>
      </p:sp>
      <p:sp>
        <p:nvSpPr>
          <p:cNvPr id="10" name="Shape 8"/>
          <p:cNvSpPr/>
          <p:nvPr/>
        </p:nvSpPr>
        <p:spPr>
          <a:xfrm>
            <a:off x="2862072" y="1911096"/>
            <a:ext cx="2240280" cy="0"/>
          </a:xfrm>
          <a:prstGeom prst="line">
            <a:avLst/>
          </a:prstGeom>
          <a:noFill/>
          <a:ln w="38100">
            <a:solidFill>
              <a:srgbClr val="E5E7EB"/>
            </a:solidFill>
            <a:prstDash val="solid"/>
          </a:ln>
        </p:spPr>
      </p:sp>
      <p:sp>
        <p:nvSpPr>
          <p:cNvPr id="11" name="Shape 9"/>
          <p:cNvSpPr/>
          <p:nvPr/>
        </p:nvSpPr>
        <p:spPr>
          <a:xfrm>
            <a:off x="2862072" y="1828800"/>
            <a:ext cx="2240280" cy="164592"/>
          </a:xfrm>
          <a:prstGeom prst="rect">
            <a:avLst/>
          </a:prstGeom>
          <a:solidFill>
            <a:srgbClr val="16A34A"/>
          </a:solidFill>
          <a:ln w="12700">
            <a:solidFill>
              <a:srgbClr val="16A34A"/>
            </a:solidFill>
            <a:prstDash val="solid"/>
          </a:ln>
        </p:spPr>
      </p:sp>
      <p:sp>
        <p:nvSpPr>
          <p:cNvPr id="12" name="Text 10"/>
          <p:cNvSpPr/>
          <p:nvPr/>
        </p:nvSpPr>
        <p:spPr>
          <a:xfrm>
            <a:off x="5239512" y="1801368"/>
            <a:ext cx="685800" cy="201168"/>
          </a:xfrm>
          <a:prstGeom prst="rect">
            <a:avLst/>
          </a:prstGeom>
          <a:noFill/>
          <a:ln/>
        </p:spPr>
        <p:txBody>
          <a:bodyPr wrap="square" lIns="0" tIns="0" rIns="0" bIns="0" rtlCol="0" anchor="ctr"/>
          <a:lstStyle/>
          <a:p>
            <a:pPr indent="0" marL="0">
              <a:buNone/>
            </a:pPr>
            <a:r>
              <a:rPr lang="en-US" sz="930" b="1" dirty="0">
                <a:solidFill>
                  <a:srgbClr val="111827"/>
                </a:solidFill>
                <a:latin typeface="Aptos" pitchFamily="34" charset="0"/>
                <a:ea typeface="Aptos" pitchFamily="34" charset="-122"/>
                <a:cs typeface="Aptos" pitchFamily="34" charset="-120"/>
              </a:rPr>
              <a:t>11.0%</a:t>
            </a:r>
            <a:endParaRPr lang="en-US" sz="930" dirty="0"/>
          </a:p>
        </p:txBody>
      </p:sp>
      <p:sp>
        <p:nvSpPr>
          <p:cNvPr id="13" name="Text 11"/>
          <p:cNvSpPr/>
          <p:nvPr/>
        </p:nvSpPr>
        <p:spPr>
          <a:xfrm>
            <a:off x="713232" y="2157984"/>
            <a:ext cx="2057400" cy="201168"/>
          </a:xfrm>
          <a:prstGeom prst="rect">
            <a:avLst/>
          </a:prstGeom>
          <a:noFill/>
          <a:ln/>
        </p:spPr>
        <p:txBody>
          <a:bodyPr wrap="square" lIns="0" tIns="0" rIns="0" bIns="0" rtlCol="0" anchor="ctr">
            <a:normAutofit/>
          </a:bodyPr>
          <a:lstStyle/>
          <a:p>
            <a:pPr indent="0" marL="0">
              <a:buNone/>
            </a:pPr>
            <a:r>
              <a:rPr lang="en-US" sz="920" b="1" dirty="0">
                <a:solidFill>
                  <a:srgbClr val="111827"/>
                </a:solidFill>
                <a:latin typeface="Aptos" pitchFamily="34" charset="0"/>
                <a:ea typeface="Aptos" pitchFamily="34" charset="-122"/>
                <a:cs typeface="Aptos" pitchFamily="34" charset="-120"/>
              </a:rPr>
              <a:t>Inbound</a:t>
            </a:r>
            <a:endParaRPr lang="en-US" sz="920" dirty="0"/>
          </a:p>
        </p:txBody>
      </p:sp>
      <p:sp>
        <p:nvSpPr>
          <p:cNvPr id="14" name="Shape 12"/>
          <p:cNvSpPr/>
          <p:nvPr/>
        </p:nvSpPr>
        <p:spPr>
          <a:xfrm>
            <a:off x="2862072" y="2295144"/>
            <a:ext cx="2240280" cy="0"/>
          </a:xfrm>
          <a:prstGeom prst="line">
            <a:avLst/>
          </a:prstGeom>
          <a:noFill/>
          <a:ln w="38100">
            <a:solidFill>
              <a:srgbClr val="E5E7EB"/>
            </a:solidFill>
            <a:prstDash val="solid"/>
          </a:ln>
        </p:spPr>
      </p:sp>
      <p:sp>
        <p:nvSpPr>
          <p:cNvPr id="15" name="Shape 13"/>
          <p:cNvSpPr/>
          <p:nvPr/>
        </p:nvSpPr>
        <p:spPr>
          <a:xfrm>
            <a:off x="2862072" y="2212848"/>
            <a:ext cx="2056984" cy="164592"/>
          </a:xfrm>
          <a:prstGeom prst="rect">
            <a:avLst/>
          </a:prstGeom>
          <a:solidFill>
            <a:srgbClr val="16A34A"/>
          </a:solidFill>
          <a:ln w="12700">
            <a:solidFill>
              <a:srgbClr val="16A34A"/>
            </a:solidFill>
            <a:prstDash val="solid"/>
          </a:ln>
        </p:spPr>
      </p:sp>
      <p:sp>
        <p:nvSpPr>
          <p:cNvPr id="16" name="Text 14"/>
          <p:cNvSpPr/>
          <p:nvPr/>
        </p:nvSpPr>
        <p:spPr>
          <a:xfrm>
            <a:off x="5239512" y="2185416"/>
            <a:ext cx="685800" cy="201168"/>
          </a:xfrm>
          <a:prstGeom prst="rect">
            <a:avLst/>
          </a:prstGeom>
          <a:noFill/>
          <a:ln/>
        </p:spPr>
        <p:txBody>
          <a:bodyPr wrap="square" lIns="0" tIns="0" rIns="0" bIns="0" rtlCol="0" anchor="ctr"/>
          <a:lstStyle/>
          <a:p>
            <a:pPr indent="0" marL="0">
              <a:buNone/>
            </a:pPr>
            <a:r>
              <a:rPr lang="en-US" sz="930" b="1" dirty="0">
                <a:solidFill>
                  <a:srgbClr val="111827"/>
                </a:solidFill>
                <a:latin typeface="Aptos" pitchFamily="34" charset="0"/>
                <a:ea typeface="Aptos" pitchFamily="34" charset="-122"/>
                <a:cs typeface="Aptos" pitchFamily="34" charset="-120"/>
              </a:rPr>
              <a:t>10.1%</a:t>
            </a:r>
            <a:endParaRPr lang="en-US" sz="930" dirty="0"/>
          </a:p>
        </p:txBody>
      </p:sp>
      <p:sp>
        <p:nvSpPr>
          <p:cNvPr id="17" name="Text 15"/>
          <p:cNvSpPr/>
          <p:nvPr/>
        </p:nvSpPr>
        <p:spPr>
          <a:xfrm>
            <a:off x="713232" y="2542032"/>
            <a:ext cx="2057400" cy="201168"/>
          </a:xfrm>
          <a:prstGeom prst="rect">
            <a:avLst/>
          </a:prstGeom>
          <a:noFill/>
          <a:ln/>
        </p:spPr>
        <p:txBody>
          <a:bodyPr wrap="square" lIns="0" tIns="0" rIns="0" bIns="0" rtlCol="0" anchor="ctr">
            <a:normAutofit/>
          </a:bodyPr>
          <a:lstStyle/>
          <a:p>
            <a:pPr indent="0" marL="0">
              <a:buNone/>
            </a:pPr>
            <a:r>
              <a:rPr lang="en-US" sz="920" b="1" dirty="0">
                <a:solidFill>
                  <a:srgbClr val="111827"/>
                </a:solidFill>
                <a:latin typeface="Aptos" pitchFamily="34" charset="0"/>
                <a:ea typeface="Aptos" pitchFamily="34" charset="-122"/>
                <a:cs typeface="Aptos" pitchFamily="34" charset="-120"/>
              </a:rPr>
              <a:t>Hunting</a:t>
            </a:r>
            <a:endParaRPr lang="en-US" sz="920" dirty="0"/>
          </a:p>
        </p:txBody>
      </p:sp>
      <p:sp>
        <p:nvSpPr>
          <p:cNvPr id="18" name="Shape 16"/>
          <p:cNvSpPr/>
          <p:nvPr/>
        </p:nvSpPr>
        <p:spPr>
          <a:xfrm>
            <a:off x="2862072" y="2679192"/>
            <a:ext cx="2240280" cy="0"/>
          </a:xfrm>
          <a:prstGeom prst="line">
            <a:avLst/>
          </a:prstGeom>
          <a:noFill/>
          <a:ln w="38100">
            <a:solidFill>
              <a:srgbClr val="E5E7EB"/>
            </a:solidFill>
            <a:prstDash val="solid"/>
          </a:ln>
        </p:spPr>
      </p:sp>
      <p:sp>
        <p:nvSpPr>
          <p:cNvPr id="19" name="Shape 17"/>
          <p:cNvSpPr/>
          <p:nvPr/>
        </p:nvSpPr>
        <p:spPr>
          <a:xfrm>
            <a:off x="2862072" y="2596896"/>
            <a:ext cx="1894055" cy="164592"/>
          </a:xfrm>
          <a:prstGeom prst="rect">
            <a:avLst/>
          </a:prstGeom>
          <a:solidFill>
            <a:srgbClr val="16A34A"/>
          </a:solidFill>
          <a:ln w="12700">
            <a:solidFill>
              <a:srgbClr val="16A34A"/>
            </a:solidFill>
            <a:prstDash val="solid"/>
          </a:ln>
        </p:spPr>
      </p:sp>
      <p:sp>
        <p:nvSpPr>
          <p:cNvPr id="20" name="Text 18"/>
          <p:cNvSpPr/>
          <p:nvPr/>
        </p:nvSpPr>
        <p:spPr>
          <a:xfrm>
            <a:off x="5239512" y="2569464"/>
            <a:ext cx="685800" cy="201168"/>
          </a:xfrm>
          <a:prstGeom prst="rect">
            <a:avLst/>
          </a:prstGeom>
          <a:noFill/>
          <a:ln/>
        </p:spPr>
        <p:txBody>
          <a:bodyPr wrap="square" lIns="0" tIns="0" rIns="0" bIns="0" rtlCol="0" anchor="ctr"/>
          <a:lstStyle/>
          <a:p>
            <a:pPr indent="0" marL="0">
              <a:buNone/>
            </a:pPr>
            <a:r>
              <a:rPr lang="en-US" sz="930" b="1" dirty="0">
                <a:solidFill>
                  <a:srgbClr val="111827"/>
                </a:solidFill>
                <a:latin typeface="Aptos" pitchFamily="34" charset="0"/>
                <a:ea typeface="Aptos" pitchFamily="34" charset="-122"/>
                <a:cs typeface="Aptos" pitchFamily="34" charset="-120"/>
              </a:rPr>
              <a:t>9.3%</a:t>
            </a:r>
            <a:endParaRPr lang="en-US" sz="930" dirty="0"/>
          </a:p>
        </p:txBody>
      </p:sp>
      <p:sp>
        <p:nvSpPr>
          <p:cNvPr id="21" name="Text 19"/>
          <p:cNvSpPr/>
          <p:nvPr/>
        </p:nvSpPr>
        <p:spPr>
          <a:xfrm>
            <a:off x="713232" y="2926080"/>
            <a:ext cx="2057400" cy="201168"/>
          </a:xfrm>
          <a:prstGeom prst="rect">
            <a:avLst/>
          </a:prstGeom>
          <a:noFill/>
          <a:ln/>
        </p:spPr>
        <p:txBody>
          <a:bodyPr wrap="square" lIns="0" tIns="0" rIns="0" bIns="0" rtlCol="0" anchor="ctr">
            <a:normAutofit/>
          </a:bodyPr>
          <a:lstStyle/>
          <a:p>
            <a:pPr indent="0" marL="0">
              <a:buNone/>
            </a:pPr>
            <a:r>
              <a:rPr lang="en-US" sz="920" b="1" dirty="0">
                <a:solidFill>
                  <a:srgbClr val="111827"/>
                </a:solidFill>
                <a:latin typeface="Aptos" pitchFamily="34" charset="0"/>
                <a:ea typeface="Aptos" pitchFamily="34" charset="-122"/>
                <a:cs typeface="Aptos" pitchFamily="34" charset="-120"/>
              </a:rPr>
              <a:t>Banco de Talentos</a:t>
            </a:r>
            <a:endParaRPr lang="en-US" sz="920" dirty="0"/>
          </a:p>
        </p:txBody>
      </p:sp>
      <p:sp>
        <p:nvSpPr>
          <p:cNvPr id="22" name="Shape 20"/>
          <p:cNvSpPr/>
          <p:nvPr/>
        </p:nvSpPr>
        <p:spPr>
          <a:xfrm>
            <a:off x="2862072" y="3063240"/>
            <a:ext cx="2240280" cy="0"/>
          </a:xfrm>
          <a:prstGeom prst="line">
            <a:avLst/>
          </a:prstGeom>
          <a:noFill/>
          <a:ln w="38100">
            <a:solidFill>
              <a:srgbClr val="E5E7EB"/>
            </a:solidFill>
            <a:prstDash val="solid"/>
          </a:ln>
        </p:spPr>
      </p:sp>
      <p:sp>
        <p:nvSpPr>
          <p:cNvPr id="23" name="Shape 21"/>
          <p:cNvSpPr/>
          <p:nvPr/>
        </p:nvSpPr>
        <p:spPr>
          <a:xfrm>
            <a:off x="2862072" y="2980944"/>
            <a:ext cx="1792224" cy="164592"/>
          </a:xfrm>
          <a:prstGeom prst="rect">
            <a:avLst/>
          </a:prstGeom>
          <a:solidFill>
            <a:srgbClr val="2563EB"/>
          </a:solidFill>
          <a:ln w="12700">
            <a:solidFill>
              <a:srgbClr val="2563EB"/>
            </a:solidFill>
            <a:prstDash val="solid"/>
          </a:ln>
        </p:spPr>
      </p:sp>
      <p:sp>
        <p:nvSpPr>
          <p:cNvPr id="24" name="Text 22"/>
          <p:cNvSpPr/>
          <p:nvPr/>
        </p:nvSpPr>
        <p:spPr>
          <a:xfrm>
            <a:off x="5239512" y="2953512"/>
            <a:ext cx="685800" cy="201168"/>
          </a:xfrm>
          <a:prstGeom prst="rect">
            <a:avLst/>
          </a:prstGeom>
          <a:noFill/>
          <a:ln/>
        </p:spPr>
        <p:txBody>
          <a:bodyPr wrap="square" lIns="0" tIns="0" rIns="0" bIns="0" rtlCol="0" anchor="ctr"/>
          <a:lstStyle/>
          <a:p>
            <a:pPr indent="0" marL="0">
              <a:buNone/>
            </a:pPr>
            <a:r>
              <a:rPr lang="en-US" sz="930" b="1" dirty="0">
                <a:solidFill>
                  <a:srgbClr val="111827"/>
                </a:solidFill>
                <a:latin typeface="Aptos" pitchFamily="34" charset="0"/>
                <a:ea typeface="Aptos" pitchFamily="34" charset="-122"/>
                <a:cs typeface="Aptos" pitchFamily="34" charset="-120"/>
              </a:rPr>
              <a:t>8.8%</a:t>
            </a:r>
            <a:endParaRPr lang="en-US" sz="930" dirty="0"/>
          </a:p>
        </p:txBody>
      </p:sp>
      <p:sp>
        <p:nvSpPr>
          <p:cNvPr id="25" name="Text 23"/>
          <p:cNvSpPr/>
          <p:nvPr/>
        </p:nvSpPr>
        <p:spPr>
          <a:xfrm>
            <a:off x="713232" y="3310128"/>
            <a:ext cx="2057400" cy="201168"/>
          </a:xfrm>
          <a:prstGeom prst="rect">
            <a:avLst/>
          </a:prstGeom>
          <a:noFill/>
          <a:ln/>
        </p:spPr>
        <p:txBody>
          <a:bodyPr wrap="square" lIns="0" tIns="0" rIns="0" bIns="0" rtlCol="0" anchor="ctr">
            <a:normAutofit/>
          </a:bodyPr>
          <a:lstStyle/>
          <a:p>
            <a:pPr indent="0" marL="0">
              <a:buNone/>
            </a:pPr>
            <a:r>
              <a:rPr lang="en-US" sz="920" b="1" dirty="0">
                <a:solidFill>
                  <a:srgbClr val="111827"/>
                </a:solidFill>
                <a:latin typeface="Aptos" pitchFamily="34" charset="0"/>
                <a:ea typeface="Aptos" pitchFamily="34" charset="-122"/>
                <a:cs typeface="Aptos" pitchFamily="34" charset="-120"/>
              </a:rPr>
              <a:t>LinkedIn</a:t>
            </a:r>
            <a:endParaRPr lang="en-US" sz="920" dirty="0"/>
          </a:p>
        </p:txBody>
      </p:sp>
      <p:sp>
        <p:nvSpPr>
          <p:cNvPr id="26" name="Shape 24"/>
          <p:cNvSpPr/>
          <p:nvPr/>
        </p:nvSpPr>
        <p:spPr>
          <a:xfrm>
            <a:off x="2862072" y="3447288"/>
            <a:ext cx="2240280" cy="0"/>
          </a:xfrm>
          <a:prstGeom prst="line">
            <a:avLst/>
          </a:prstGeom>
          <a:noFill/>
          <a:ln w="38100">
            <a:solidFill>
              <a:srgbClr val="E5E7EB"/>
            </a:solidFill>
            <a:prstDash val="solid"/>
          </a:ln>
        </p:spPr>
      </p:sp>
      <p:sp>
        <p:nvSpPr>
          <p:cNvPr id="27" name="Shape 25"/>
          <p:cNvSpPr/>
          <p:nvPr/>
        </p:nvSpPr>
        <p:spPr>
          <a:xfrm>
            <a:off x="2862072" y="3364992"/>
            <a:ext cx="1751492" cy="164592"/>
          </a:xfrm>
          <a:prstGeom prst="rect">
            <a:avLst/>
          </a:prstGeom>
          <a:solidFill>
            <a:srgbClr val="2563EB"/>
          </a:solidFill>
          <a:ln w="12700">
            <a:solidFill>
              <a:srgbClr val="2563EB"/>
            </a:solidFill>
            <a:prstDash val="solid"/>
          </a:ln>
        </p:spPr>
      </p:sp>
      <p:sp>
        <p:nvSpPr>
          <p:cNvPr id="28" name="Text 26"/>
          <p:cNvSpPr/>
          <p:nvPr/>
        </p:nvSpPr>
        <p:spPr>
          <a:xfrm>
            <a:off x="5239512" y="3337560"/>
            <a:ext cx="685800" cy="201168"/>
          </a:xfrm>
          <a:prstGeom prst="rect">
            <a:avLst/>
          </a:prstGeom>
          <a:noFill/>
          <a:ln/>
        </p:spPr>
        <p:txBody>
          <a:bodyPr wrap="square" lIns="0" tIns="0" rIns="0" bIns="0" rtlCol="0" anchor="ctr"/>
          <a:lstStyle/>
          <a:p>
            <a:pPr indent="0" marL="0">
              <a:buNone/>
            </a:pPr>
            <a:r>
              <a:rPr lang="en-US" sz="930" b="1" dirty="0">
                <a:solidFill>
                  <a:srgbClr val="111827"/>
                </a:solidFill>
                <a:latin typeface="Aptos" pitchFamily="34" charset="0"/>
                <a:ea typeface="Aptos" pitchFamily="34" charset="-122"/>
                <a:cs typeface="Aptos" pitchFamily="34" charset="-120"/>
              </a:rPr>
              <a:t>8.6%</a:t>
            </a:r>
            <a:endParaRPr lang="en-US" sz="930" dirty="0"/>
          </a:p>
        </p:txBody>
      </p:sp>
      <p:sp>
        <p:nvSpPr>
          <p:cNvPr id="29" name="Text 27"/>
          <p:cNvSpPr/>
          <p:nvPr/>
        </p:nvSpPr>
        <p:spPr>
          <a:xfrm>
            <a:off x="713232" y="3694176"/>
            <a:ext cx="2057400" cy="201168"/>
          </a:xfrm>
          <a:prstGeom prst="rect">
            <a:avLst/>
          </a:prstGeom>
          <a:noFill/>
          <a:ln/>
        </p:spPr>
        <p:txBody>
          <a:bodyPr wrap="square" lIns="0" tIns="0" rIns="0" bIns="0" rtlCol="0" anchor="ctr">
            <a:normAutofit/>
          </a:bodyPr>
          <a:lstStyle/>
          <a:p>
            <a:pPr indent="0" marL="0">
              <a:buNone/>
            </a:pPr>
            <a:r>
              <a:rPr lang="en-US" sz="920" b="1" dirty="0">
                <a:solidFill>
                  <a:srgbClr val="111827"/>
                </a:solidFill>
                <a:latin typeface="Aptos" pitchFamily="34" charset="0"/>
                <a:ea typeface="Aptos" pitchFamily="34" charset="-122"/>
                <a:cs typeface="Aptos" pitchFamily="34" charset="-120"/>
              </a:rPr>
              <a:t>Comunidade</a:t>
            </a:r>
            <a:endParaRPr lang="en-US" sz="920" dirty="0"/>
          </a:p>
        </p:txBody>
      </p:sp>
      <p:sp>
        <p:nvSpPr>
          <p:cNvPr id="30" name="Shape 28"/>
          <p:cNvSpPr/>
          <p:nvPr/>
        </p:nvSpPr>
        <p:spPr>
          <a:xfrm>
            <a:off x="2862072" y="3831336"/>
            <a:ext cx="2240280" cy="0"/>
          </a:xfrm>
          <a:prstGeom prst="line">
            <a:avLst/>
          </a:prstGeom>
          <a:noFill/>
          <a:ln w="38100">
            <a:solidFill>
              <a:srgbClr val="E5E7EB"/>
            </a:solidFill>
            <a:prstDash val="solid"/>
          </a:ln>
        </p:spPr>
      </p:sp>
      <p:sp>
        <p:nvSpPr>
          <p:cNvPr id="31" name="Shape 29"/>
          <p:cNvSpPr/>
          <p:nvPr/>
        </p:nvSpPr>
        <p:spPr>
          <a:xfrm>
            <a:off x="2862072" y="3749040"/>
            <a:ext cx="1608928" cy="164592"/>
          </a:xfrm>
          <a:prstGeom prst="rect">
            <a:avLst/>
          </a:prstGeom>
          <a:solidFill>
            <a:srgbClr val="2563EB"/>
          </a:solidFill>
          <a:ln w="12700">
            <a:solidFill>
              <a:srgbClr val="2563EB"/>
            </a:solidFill>
            <a:prstDash val="solid"/>
          </a:ln>
        </p:spPr>
      </p:sp>
      <p:sp>
        <p:nvSpPr>
          <p:cNvPr id="32" name="Text 30"/>
          <p:cNvSpPr/>
          <p:nvPr/>
        </p:nvSpPr>
        <p:spPr>
          <a:xfrm>
            <a:off x="5239512" y="3721608"/>
            <a:ext cx="685800" cy="201168"/>
          </a:xfrm>
          <a:prstGeom prst="rect">
            <a:avLst/>
          </a:prstGeom>
          <a:noFill/>
          <a:ln/>
        </p:spPr>
        <p:txBody>
          <a:bodyPr wrap="square" lIns="0" tIns="0" rIns="0" bIns="0" rtlCol="0" anchor="ctr"/>
          <a:lstStyle/>
          <a:p>
            <a:pPr indent="0" marL="0">
              <a:buNone/>
            </a:pPr>
            <a:r>
              <a:rPr lang="en-US" sz="930" b="1" dirty="0">
                <a:solidFill>
                  <a:srgbClr val="111827"/>
                </a:solidFill>
                <a:latin typeface="Aptos" pitchFamily="34" charset="0"/>
                <a:ea typeface="Aptos" pitchFamily="34" charset="-122"/>
                <a:cs typeface="Aptos" pitchFamily="34" charset="-120"/>
              </a:rPr>
              <a:t>7.9%</a:t>
            </a:r>
            <a:endParaRPr lang="en-US" sz="930" dirty="0"/>
          </a:p>
        </p:txBody>
      </p:sp>
      <p:sp>
        <p:nvSpPr>
          <p:cNvPr id="33" name="Text 31"/>
          <p:cNvSpPr/>
          <p:nvPr/>
        </p:nvSpPr>
        <p:spPr>
          <a:xfrm>
            <a:off x="713232" y="4078224"/>
            <a:ext cx="2057400" cy="201168"/>
          </a:xfrm>
          <a:prstGeom prst="rect">
            <a:avLst/>
          </a:prstGeom>
          <a:noFill/>
          <a:ln/>
        </p:spPr>
        <p:txBody>
          <a:bodyPr wrap="square" lIns="0" tIns="0" rIns="0" bIns="0" rtlCol="0" anchor="ctr">
            <a:normAutofit/>
          </a:bodyPr>
          <a:lstStyle/>
          <a:p>
            <a:pPr indent="0" marL="0">
              <a:buNone/>
            </a:pPr>
            <a:r>
              <a:rPr lang="en-US" sz="920" b="1" dirty="0">
                <a:solidFill>
                  <a:srgbClr val="111827"/>
                </a:solidFill>
                <a:latin typeface="Aptos" pitchFamily="34" charset="0"/>
                <a:ea typeface="Aptos" pitchFamily="34" charset="-122"/>
                <a:cs typeface="Aptos" pitchFamily="34" charset="-120"/>
              </a:rPr>
              <a:t>Evento</a:t>
            </a:r>
            <a:endParaRPr lang="en-US" sz="920" dirty="0"/>
          </a:p>
        </p:txBody>
      </p:sp>
      <p:sp>
        <p:nvSpPr>
          <p:cNvPr id="34" name="Shape 32"/>
          <p:cNvSpPr/>
          <p:nvPr/>
        </p:nvSpPr>
        <p:spPr>
          <a:xfrm>
            <a:off x="2862072" y="4215384"/>
            <a:ext cx="2240280" cy="0"/>
          </a:xfrm>
          <a:prstGeom prst="line">
            <a:avLst/>
          </a:prstGeom>
          <a:noFill/>
          <a:ln w="38100">
            <a:solidFill>
              <a:srgbClr val="E5E7EB"/>
            </a:solidFill>
            <a:prstDash val="solid"/>
          </a:ln>
        </p:spPr>
      </p:sp>
      <p:sp>
        <p:nvSpPr>
          <p:cNvPr id="35" name="Shape 33"/>
          <p:cNvSpPr/>
          <p:nvPr/>
        </p:nvSpPr>
        <p:spPr>
          <a:xfrm>
            <a:off x="2862072" y="4133088"/>
            <a:ext cx="997943" cy="164592"/>
          </a:xfrm>
          <a:prstGeom prst="rect">
            <a:avLst/>
          </a:prstGeom>
          <a:solidFill>
            <a:srgbClr val="2563EB"/>
          </a:solidFill>
          <a:ln w="12700">
            <a:solidFill>
              <a:srgbClr val="2563EB"/>
            </a:solidFill>
            <a:prstDash val="solid"/>
          </a:ln>
        </p:spPr>
      </p:sp>
      <p:sp>
        <p:nvSpPr>
          <p:cNvPr id="36" name="Text 34"/>
          <p:cNvSpPr/>
          <p:nvPr/>
        </p:nvSpPr>
        <p:spPr>
          <a:xfrm>
            <a:off x="5239512" y="4105656"/>
            <a:ext cx="685800" cy="201168"/>
          </a:xfrm>
          <a:prstGeom prst="rect">
            <a:avLst/>
          </a:prstGeom>
          <a:noFill/>
          <a:ln/>
        </p:spPr>
        <p:txBody>
          <a:bodyPr wrap="square" lIns="0" tIns="0" rIns="0" bIns="0" rtlCol="0" anchor="ctr"/>
          <a:lstStyle/>
          <a:p>
            <a:pPr indent="0" marL="0">
              <a:buNone/>
            </a:pPr>
            <a:r>
              <a:rPr lang="en-US" sz="930" b="1" dirty="0">
                <a:solidFill>
                  <a:srgbClr val="111827"/>
                </a:solidFill>
                <a:latin typeface="Aptos" pitchFamily="34" charset="0"/>
                <a:ea typeface="Aptos" pitchFamily="34" charset="-122"/>
                <a:cs typeface="Aptos" pitchFamily="34" charset="-120"/>
              </a:rPr>
              <a:t>4.9%</a:t>
            </a:r>
            <a:endParaRPr lang="en-US" sz="930" dirty="0"/>
          </a:p>
        </p:txBody>
      </p:sp>
      <p:sp>
        <p:nvSpPr>
          <p:cNvPr id="37" name="Text 35"/>
          <p:cNvSpPr/>
          <p:nvPr/>
        </p:nvSpPr>
        <p:spPr>
          <a:xfrm>
            <a:off x="713232" y="4462272"/>
            <a:ext cx="2057400" cy="201168"/>
          </a:xfrm>
          <a:prstGeom prst="rect">
            <a:avLst/>
          </a:prstGeom>
          <a:noFill/>
          <a:ln/>
        </p:spPr>
        <p:txBody>
          <a:bodyPr wrap="square" lIns="0" tIns="0" rIns="0" bIns="0" rtlCol="0" anchor="ctr">
            <a:normAutofit/>
          </a:bodyPr>
          <a:lstStyle/>
          <a:p>
            <a:pPr indent="0" marL="0">
              <a:buNone/>
            </a:pPr>
            <a:r>
              <a:rPr lang="en-US" sz="920" b="1" dirty="0">
                <a:solidFill>
                  <a:srgbClr val="111827"/>
                </a:solidFill>
                <a:latin typeface="Aptos" pitchFamily="34" charset="0"/>
                <a:ea typeface="Aptos" pitchFamily="34" charset="-122"/>
                <a:cs typeface="Aptos" pitchFamily="34" charset="-120"/>
              </a:rPr>
              <a:t>Indicação</a:t>
            </a:r>
            <a:endParaRPr lang="en-US" sz="920" dirty="0"/>
          </a:p>
        </p:txBody>
      </p:sp>
      <p:sp>
        <p:nvSpPr>
          <p:cNvPr id="38" name="Shape 36"/>
          <p:cNvSpPr/>
          <p:nvPr/>
        </p:nvSpPr>
        <p:spPr>
          <a:xfrm>
            <a:off x="2862072" y="4599432"/>
            <a:ext cx="2240280" cy="0"/>
          </a:xfrm>
          <a:prstGeom prst="line">
            <a:avLst/>
          </a:prstGeom>
          <a:noFill/>
          <a:ln w="38100">
            <a:solidFill>
              <a:srgbClr val="E5E7EB"/>
            </a:solidFill>
            <a:prstDash val="solid"/>
          </a:ln>
        </p:spPr>
      </p:sp>
      <p:sp>
        <p:nvSpPr>
          <p:cNvPr id="39" name="Shape 37"/>
          <p:cNvSpPr/>
          <p:nvPr/>
        </p:nvSpPr>
        <p:spPr>
          <a:xfrm>
            <a:off x="2862072" y="4517136"/>
            <a:ext cx="957211" cy="164592"/>
          </a:xfrm>
          <a:prstGeom prst="rect">
            <a:avLst/>
          </a:prstGeom>
          <a:solidFill>
            <a:srgbClr val="2563EB"/>
          </a:solidFill>
          <a:ln w="12700">
            <a:solidFill>
              <a:srgbClr val="2563EB"/>
            </a:solidFill>
            <a:prstDash val="solid"/>
          </a:ln>
        </p:spPr>
      </p:sp>
      <p:sp>
        <p:nvSpPr>
          <p:cNvPr id="40" name="Text 38"/>
          <p:cNvSpPr/>
          <p:nvPr/>
        </p:nvSpPr>
        <p:spPr>
          <a:xfrm>
            <a:off x="5239512" y="4489704"/>
            <a:ext cx="685800" cy="201168"/>
          </a:xfrm>
          <a:prstGeom prst="rect">
            <a:avLst/>
          </a:prstGeom>
          <a:noFill/>
          <a:ln/>
        </p:spPr>
        <p:txBody>
          <a:bodyPr wrap="square" lIns="0" tIns="0" rIns="0" bIns="0" rtlCol="0" anchor="ctr"/>
          <a:lstStyle/>
          <a:p>
            <a:pPr indent="0" marL="0">
              <a:buNone/>
            </a:pPr>
            <a:r>
              <a:rPr lang="en-US" sz="930" b="1" dirty="0">
                <a:solidFill>
                  <a:srgbClr val="111827"/>
                </a:solidFill>
                <a:latin typeface="Aptos" pitchFamily="34" charset="0"/>
                <a:ea typeface="Aptos" pitchFamily="34" charset="-122"/>
                <a:cs typeface="Aptos" pitchFamily="34" charset="-120"/>
              </a:rPr>
              <a:t>4.7%</a:t>
            </a:r>
            <a:endParaRPr lang="en-US" sz="930" dirty="0"/>
          </a:p>
        </p:txBody>
      </p:sp>
      <p:sp>
        <p:nvSpPr>
          <p:cNvPr id="41" name="Text 39"/>
          <p:cNvSpPr/>
          <p:nvPr/>
        </p:nvSpPr>
        <p:spPr>
          <a:xfrm>
            <a:off x="6720840" y="1463040"/>
            <a:ext cx="3108960" cy="201168"/>
          </a:xfrm>
          <a:prstGeom prst="rect">
            <a:avLst/>
          </a:prstGeom>
          <a:noFill/>
          <a:ln/>
        </p:spPr>
        <p:txBody>
          <a:bodyPr wrap="square" lIns="0" tIns="0" rIns="0" bIns="0" rtlCol="0" anchor="ctr"/>
          <a:lstStyle/>
          <a:p>
            <a:pPr indent="0" marL="0">
              <a:buNone/>
            </a:pPr>
            <a:r>
              <a:rPr lang="en-US" sz="820" b="1" dirty="0">
                <a:solidFill>
                  <a:srgbClr val="6B7280"/>
                </a:solidFill>
                <a:latin typeface="Aptos" pitchFamily="34" charset="0"/>
                <a:ea typeface="Aptos" pitchFamily="34" charset="-122"/>
                <a:cs typeface="Aptos" pitchFamily="34" charset="-120"/>
              </a:rPr>
              <a:t>HIRED RATE BY SENIORITY</a:t>
            </a:r>
            <a:endParaRPr lang="en-US" sz="820" dirty="0"/>
          </a:p>
        </p:txBody>
      </p:sp>
      <p:sp>
        <p:nvSpPr>
          <p:cNvPr id="42" name="Text 40"/>
          <p:cNvSpPr/>
          <p:nvPr/>
        </p:nvSpPr>
        <p:spPr>
          <a:xfrm>
            <a:off x="6720840" y="1773936"/>
            <a:ext cx="2057400" cy="201168"/>
          </a:xfrm>
          <a:prstGeom prst="rect">
            <a:avLst/>
          </a:prstGeom>
          <a:noFill/>
          <a:ln/>
        </p:spPr>
        <p:txBody>
          <a:bodyPr wrap="square" lIns="0" tIns="0" rIns="0" bIns="0" rtlCol="0" anchor="ctr">
            <a:normAutofit/>
          </a:bodyPr>
          <a:lstStyle/>
          <a:p>
            <a:pPr indent="0" marL="0">
              <a:buNone/>
            </a:pPr>
            <a:r>
              <a:rPr lang="en-US" sz="920" b="1" dirty="0">
                <a:solidFill>
                  <a:srgbClr val="111827"/>
                </a:solidFill>
                <a:latin typeface="Aptos" pitchFamily="34" charset="0"/>
                <a:ea typeface="Aptos" pitchFamily="34" charset="-122"/>
                <a:cs typeface="Aptos" pitchFamily="34" charset="-120"/>
              </a:rPr>
              <a:t>Staff</a:t>
            </a:r>
            <a:endParaRPr lang="en-US" sz="920" dirty="0"/>
          </a:p>
        </p:txBody>
      </p:sp>
      <p:sp>
        <p:nvSpPr>
          <p:cNvPr id="43" name="Shape 41"/>
          <p:cNvSpPr/>
          <p:nvPr/>
        </p:nvSpPr>
        <p:spPr>
          <a:xfrm>
            <a:off x="8869680" y="1911096"/>
            <a:ext cx="1920240" cy="0"/>
          </a:xfrm>
          <a:prstGeom prst="line">
            <a:avLst/>
          </a:prstGeom>
          <a:noFill/>
          <a:ln w="38100">
            <a:solidFill>
              <a:srgbClr val="E5E7EB"/>
            </a:solidFill>
            <a:prstDash val="solid"/>
          </a:ln>
        </p:spPr>
      </p:sp>
      <p:sp>
        <p:nvSpPr>
          <p:cNvPr id="44" name="Shape 42"/>
          <p:cNvSpPr/>
          <p:nvPr/>
        </p:nvSpPr>
        <p:spPr>
          <a:xfrm>
            <a:off x="8869680" y="1828800"/>
            <a:ext cx="1920240" cy="164592"/>
          </a:xfrm>
          <a:prstGeom prst="rect">
            <a:avLst/>
          </a:prstGeom>
          <a:solidFill>
            <a:srgbClr val="16A34A"/>
          </a:solidFill>
          <a:ln w="12700">
            <a:solidFill>
              <a:srgbClr val="16A34A"/>
            </a:solidFill>
            <a:prstDash val="solid"/>
          </a:ln>
        </p:spPr>
      </p:sp>
      <p:sp>
        <p:nvSpPr>
          <p:cNvPr id="45" name="Text 43"/>
          <p:cNvSpPr/>
          <p:nvPr/>
        </p:nvSpPr>
        <p:spPr>
          <a:xfrm>
            <a:off x="10927080" y="1801368"/>
            <a:ext cx="685800" cy="201168"/>
          </a:xfrm>
          <a:prstGeom prst="rect">
            <a:avLst/>
          </a:prstGeom>
          <a:noFill/>
          <a:ln/>
        </p:spPr>
        <p:txBody>
          <a:bodyPr wrap="square" lIns="0" tIns="0" rIns="0" bIns="0" rtlCol="0" anchor="ctr"/>
          <a:lstStyle/>
          <a:p>
            <a:pPr indent="0" marL="0">
              <a:buNone/>
            </a:pPr>
            <a:r>
              <a:rPr lang="en-US" sz="930" b="1" dirty="0">
                <a:solidFill>
                  <a:srgbClr val="111827"/>
                </a:solidFill>
                <a:latin typeface="Aptos" pitchFamily="34" charset="0"/>
                <a:ea typeface="Aptos" pitchFamily="34" charset="-122"/>
                <a:cs typeface="Aptos" pitchFamily="34" charset="-120"/>
              </a:rPr>
              <a:t>13.3%</a:t>
            </a:r>
            <a:endParaRPr lang="en-US" sz="930" dirty="0"/>
          </a:p>
        </p:txBody>
      </p:sp>
      <p:sp>
        <p:nvSpPr>
          <p:cNvPr id="46" name="Text 44"/>
          <p:cNvSpPr/>
          <p:nvPr/>
        </p:nvSpPr>
        <p:spPr>
          <a:xfrm>
            <a:off x="6720840" y="2286000"/>
            <a:ext cx="2057400" cy="201168"/>
          </a:xfrm>
          <a:prstGeom prst="rect">
            <a:avLst/>
          </a:prstGeom>
          <a:noFill/>
          <a:ln/>
        </p:spPr>
        <p:txBody>
          <a:bodyPr wrap="square" lIns="0" tIns="0" rIns="0" bIns="0" rtlCol="0" anchor="ctr">
            <a:normAutofit/>
          </a:bodyPr>
          <a:lstStyle/>
          <a:p>
            <a:pPr indent="0" marL="0">
              <a:buNone/>
            </a:pPr>
            <a:r>
              <a:rPr lang="en-US" sz="920" b="1" dirty="0">
                <a:solidFill>
                  <a:srgbClr val="111827"/>
                </a:solidFill>
                <a:latin typeface="Aptos" pitchFamily="34" charset="0"/>
                <a:ea typeface="Aptos" pitchFamily="34" charset="-122"/>
                <a:cs typeface="Aptos" pitchFamily="34" charset="-120"/>
              </a:rPr>
              <a:t>Senior</a:t>
            </a:r>
            <a:endParaRPr lang="en-US" sz="920" dirty="0"/>
          </a:p>
        </p:txBody>
      </p:sp>
      <p:sp>
        <p:nvSpPr>
          <p:cNvPr id="47" name="Shape 45"/>
          <p:cNvSpPr/>
          <p:nvPr/>
        </p:nvSpPr>
        <p:spPr>
          <a:xfrm>
            <a:off x="8869680" y="2423160"/>
            <a:ext cx="1920240" cy="0"/>
          </a:xfrm>
          <a:prstGeom prst="line">
            <a:avLst/>
          </a:prstGeom>
          <a:noFill/>
          <a:ln w="38100">
            <a:solidFill>
              <a:srgbClr val="E5E7EB"/>
            </a:solidFill>
            <a:prstDash val="solid"/>
          </a:ln>
        </p:spPr>
      </p:sp>
      <p:sp>
        <p:nvSpPr>
          <p:cNvPr id="48" name="Shape 46"/>
          <p:cNvSpPr/>
          <p:nvPr/>
        </p:nvSpPr>
        <p:spPr>
          <a:xfrm>
            <a:off x="8869680" y="2340864"/>
            <a:ext cx="1414914" cy="164592"/>
          </a:xfrm>
          <a:prstGeom prst="rect">
            <a:avLst/>
          </a:prstGeom>
          <a:solidFill>
            <a:srgbClr val="16A34A"/>
          </a:solidFill>
          <a:ln w="12700">
            <a:solidFill>
              <a:srgbClr val="16A34A"/>
            </a:solidFill>
            <a:prstDash val="solid"/>
          </a:ln>
        </p:spPr>
      </p:sp>
      <p:sp>
        <p:nvSpPr>
          <p:cNvPr id="49" name="Text 47"/>
          <p:cNvSpPr/>
          <p:nvPr/>
        </p:nvSpPr>
        <p:spPr>
          <a:xfrm>
            <a:off x="10927080" y="2313432"/>
            <a:ext cx="685800" cy="201168"/>
          </a:xfrm>
          <a:prstGeom prst="rect">
            <a:avLst/>
          </a:prstGeom>
          <a:noFill/>
          <a:ln/>
        </p:spPr>
        <p:txBody>
          <a:bodyPr wrap="square" lIns="0" tIns="0" rIns="0" bIns="0" rtlCol="0" anchor="ctr"/>
          <a:lstStyle/>
          <a:p>
            <a:pPr indent="0" marL="0">
              <a:buNone/>
            </a:pPr>
            <a:r>
              <a:rPr lang="en-US" sz="930" b="1" dirty="0">
                <a:solidFill>
                  <a:srgbClr val="111827"/>
                </a:solidFill>
                <a:latin typeface="Aptos" pitchFamily="34" charset="0"/>
                <a:ea typeface="Aptos" pitchFamily="34" charset="-122"/>
                <a:cs typeface="Aptos" pitchFamily="34" charset="-120"/>
              </a:rPr>
              <a:t>9.8%</a:t>
            </a:r>
            <a:endParaRPr lang="en-US" sz="930" dirty="0"/>
          </a:p>
        </p:txBody>
      </p:sp>
      <p:sp>
        <p:nvSpPr>
          <p:cNvPr id="50" name="Text 48"/>
          <p:cNvSpPr/>
          <p:nvPr/>
        </p:nvSpPr>
        <p:spPr>
          <a:xfrm>
            <a:off x="6720840" y="2798064"/>
            <a:ext cx="2057400" cy="201168"/>
          </a:xfrm>
          <a:prstGeom prst="rect">
            <a:avLst/>
          </a:prstGeom>
          <a:noFill/>
          <a:ln/>
        </p:spPr>
        <p:txBody>
          <a:bodyPr wrap="square" lIns="0" tIns="0" rIns="0" bIns="0" rtlCol="0" anchor="ctr">
            <a:normAutofit/>
          </a:bodyPr>
          <a:lstStyle/>
          <a:p>
            <a:pPr indent="0" marL="0">
              <a:buNone/>
            </a:pPr>
            <a:r>
              <a:rPr lang="en-US" sz="920" b="1" dirty="0">
                <a:solidFill>
                  <a:srgbClr val="111827"/>
                </a:solidFill>
                <a:latin typeface="Aptos" pitchFamily="34" charset="0"/>
                <a:ea typeface="Aptos" pitchFamily="34" charset="-122"/>
                <a:cs typeface="Aptos" pitchFamily="34" charset="-120"/>
              </a:rPr>
              <a:t>Pleno</a:t>
            </a:r>
            <a:endParaRPr lang="en-US" sz="920" dirty="0"/>
          </a:p>
        </p:txBody>
      </p:sp>
      <p:sp>
        <p:nvSpPr>
          <p:cNvPr id="51" name="Shape 49"/>
          <p:cNvSpPr/>
          <p:nvPr/>
        </p:nvSpPr>
        <p:spPr>
          <a:xfrm>
            <a:off x="8869680" y="2935224"/>
            <a:ext cx="1920240" cy="0"/>
          </a:xfrm>
          <a:prstGeom prst="line">
            <a:avLst/>
          </a:prstGeom>
          <a:noFill/>
          <a:ln w="38100">
            <a:solidFill>
              <a:srgbClr val="E5E7EB"/>
            </a:solidFill>
            <a:prstDash val="solid"/>
          </a:ln>
        </p:spPr>
      </p:sp>
      <p:sp>
        <p:nvSpPr>
          <p:cNvPr id="52" name="Shape 50"/>
          <p:cNvSpPr/>
          <p:nvPr/>
        </p:nvSpPr>
        <p:spPr>
          <a:xfrm>
            <a:off x="8869680" y="2852928"/>
            <a:ext cx="1010653" cy="164592"/>
          </a:xfrm>
          <a:prstGeom prst="rect">
            <a:avLst/>
          </a:prstGeom>
          <a:solidFill>
            <a:srgbClr val="2563EB"/>
          </a:solidFill>
          <a:ln w="12700">
            <a:solidFill>
              <a:srgbClr val="2563EB"/>
            </a:solidFill>
            <a:prstDash val="solid"/>
          </a:ln>
        </p:spPr>
      </p:sp>
      <p:sp>
        <p:nvSpPr>
          <p:cNvPr id="53" name="Text 51"/>
          <p:cNvSpPr/>
          <p:nvPr/>
        </p:nvSpPr>
        <p:spPr>
          <a:xfrm>
            <a:off x="10927080" y="2825496"/>
            <a:ext cx="685800" cy="201168"/>
          </a:xfrm>
          <a:prstGeom prst="rect">
            <a:avLst/>
          </a:prstGeom>
          <a:noFill/>
          <a:ln/>
        </p:spPr>
        <p:txBody>
          <a:bodyPr wrap="square" lIns="0" tIns="0" rIns="0" bIns="0" rtlCol="0" anchor="ctr"/>
          <a:lstStyle/>
          <a:p>
            <a:pPr indent="0" marL="0">
              <a:buNone/>
            </a:pPr>
            <a:r>
              <a:rPr lang="en-US" sz="930" b="1" dirty="0">
                <a:solidFill>
                  <a:srgbClr val="111827"/>
                </a:solidFill>
                <a:latin typeface="Aptos" pitchFamily="34" charset="0"/>
                <a:ea typeface="Aptos" pitchFamily="34" charset="-122"/>
                <a:cs typeface="Aptos" pitchFamily="34" charset="-120"/>
              </a:rPr>
              <a:t>7.0%</a:t>
            </a:r>
            <a:endParaRPr lang="en-US" sz="930" dirty="0"/>
          </a:p>
        </p:txBody>
      </p:sp>
      <p:sp>
        <p:nvSpPr>
          <p:cNvPr id="54" name="Text 52"/>
          <p:cNvSpPr/>
          <p:nvPr/>
        </p:nvSpPr>
        <p:spPr>
          <a:xfrm>
            <a:off x="6720840" y="3310128"/>
            <a:ext cx="2057400" cy="201168"/>
          </a:xfrm>
          <a:prstGeom prst="rect">
            <a:avLst/>
          </a:prstGeom>
          <a:noFill/>
          <a:ln/>
        </p:spPr>
        <p:txBody>
          <a:bodyPr wrap="square" lIns="0" tIns="0" rIns="0" bIns="0" rtlCol="0" anchor="ctr">
            <a:normAutofit/>
          </a:bodyPr>
          <a:lstStyle/>
          <a:p>
            <a:pPr indent="0" marL="0">
              <a:buNone/>
            </a:pPr>
            <a:r>
              <a:rPr lang="en-US" sz="920" b="1" dirty="0">
                <a:solidFill>
                  <a:srgbClr val="111827"/>
                </a:solidFill>
                <a:latin typeface="Aptos" pitchFamily="34" charset="0"/>
                <a:ea typeface="Aptos" pitchFamily="34" charset="-122"/>
                <a:cs typeface="Aptos" pitchFamily="34" charset="-120"/>
              </a:rPr>
              <a:t>Junior</a:t>
            </a:r>
            <a:endParaRPr lang="en-US" sz="920" dirty="0"/>
          </a:p>
        </p:txBody>
      </p:sp>
      <p:sp>
        <p:nvSpPr>
          <p:cNvPr id="55" name="Shape 53"/>
          <p:cNvSpPr/>
          <p:nvPr/>
        </p:nvSpPr>
        <p:spPr>
          <a:xfrm>
            <a:off x="8869680" y="3447288"/>
            <a:ext cx="1920240" cy="0"/>
          </a:xfrm>
          <a:prstGeom prst="line">
            <a:avLst/>
          </a:prstGeom>
          <a:noFill/>
          <a:ln w="38100">
            <a:solidFill>
              <a:srgbClr val="E5E7EB"/>
            </a:solidFill>
            <a:prstDash val="solid"/>
          </a:ln>
        </p:spPr>
      </p:sp>
      <p:sp>
        <p:nvSpPr>
          <p:cNvPr id="56" name="Shape 54"/>
          <p:cNvSpPr/>
          <p:nvPr/>
        </p:nvSpPr>
        <p:spPr>
          <a:xfrm>
            <a:off x="8869680" y="3364992"/>
            <a:ext cx="664143" cy="164592"/>
          </a:xfrm>
          <a:prstGeom prst="rect">
            <a:avLst/>
          </a:prstGeom>
          <a:solidFill>
            <a:srgbClr val="2563EB"/>
          </a:solidFill>
          <a:ln w="12700">
            <a:solidFill>
              <a:srgbClr val="2563EB"/>
            </a:solidFill>
            <a:prstDash val="solid"/>
          </a:ln>
        </p:spPr>
      </p:sp>
      <p:sp>
        <p:nvSpPr>
          <p:cNvPr id="57" name="Text 55"/>
          <p:cNvSpPr/>
          <p:nvPr/>
        </p:nvSpPr>
        <p:spPr>
          <a:xfrm>
            <a:off x="10927080" y="3337560"/>
            <a:ext cx="685800" cy="201168"/>
          </a:xfrm>
          <a:prstGeom prst="rect">
            <a:avLst/>
          </a:prstGeom>
          <a:noFill/>
          <a:ln/>
        </p:spPr>
        <p:txBody>
          <a:bodyPr wrap="square" lIns="0" tIns="0" rIns="0" bIns="0" rtlCol="0" anchor="ctr"/>
          <a:lstStyle/>
          <a:p>
            <a:pPr indent="0" marL="0">
              <a:buNone/>
            </a:pPr>
            <a:r>
              <a:rPr lang="en-US" sz="930" b="1" dirty="0">
                <a:solidFill>
                  <a:srgbClr val="111827"/>
                </a:solidFill>
                <a:latin typeface="Aptos" pitchFamily="34" charset="0"/>
                <a:ea typeface="Aptos" pitchFamily="34" charset="-122"/>
                <a:cs typeface="Aptos" pitchFamily="34" charset="-120"/>
              </a:rPr>
              <a:t>4.6%</a:t>
            </a:r>
            <a:endParaRPr lang="en-US" sz="930" dirty="0"/>
          </a:p>
        </p:txBody>
      </p:sp>
      <p:sp>
        <p:nvSpPr>
          <p:cNvPr id="58" name="Shape 56"/>
          <p:cNvSpPr/>
          <p:nvPr/>
        </p:nvSpPr>
        <p:spPr>
          <a:xfrm>
            <a:off x="822960" y="5440680"/>
            <a:ext cx="4114800" cy="548640"/>
          </a:xfrm>
          <a:prstGeom prst="roundRect">
            <a:avLst>
              <a:gd name="adj" fmla="val 13333"/>
            </a:avLst>
          </a:prstGeom>
          <a:solidFill>
            <a:srgbClr val="DCFCE7"/>
          </a:solidFill>
          <a:ln w="12700">
            <a:solidFill>
              <a:srgbClr val="16A34A">
                <a:alpha val="75000"/>
              </a:srgbClr>
            </a:solidFill>
            <a:prstDash val="solid"/>
          </a:ln>
        </p:spPr>
      </p:sp>
      <p:sp>
        <p:nvSpPr>
          <p:cNvPr id="59" name="Text 57"/>
          <p:cNvSpPr/>
          <p:nvPr/>
        </p:nvSpPr>
        <p:spPr>
          <a:xfrm>
            <a:off x="987552" y="5586984"/>
            <a:ext cx="3785616" cy="292608"/>
          </a:xfrm>
          <a:prstGeom prst="rect">
            <a:avLst/>
          </a:prstGeom>
          <a:noFill/>
          <a:ln/>
        </p:spPr>
        <p:txBody>
          <a:bodyPr wrap="square" lIns="254" tIns="254" rIns="254" bIns="254" rtlCol="0" anchor="ctr">
            <a:normAutofit/>
          </a:bodyPr>
          <a:lstStyle/>
          <a:p>
            <a:pPr indent="0" marL="0">
              <a:buNone/>
            </a:pPr>
            <a:r>
              <a:rPr lang="en-US" sz="1200" b="1" dirty="0">
                <a:solidFill>
                  <a:srgbClr val="111827"/>
                </a:solidFill>
                <a:latin typeface="Aptos" pitchFamily="34" charset="0"/>
                <a:ea typeface="Aptos" pitchFamily="34" charset="-122"/>
                <a:cs typeface="Aptos" pitchFamily="34" charset="-120"/>
              </a:rPr>
              <a:t>GitHub, Inbound, and Hunting show the strongest hired-stage outcomes.</a:t>
            </a:r>
            <a:endParaRPr lang="en-US" sz="1200" dirty="0"/>
          </a:p>
        </p:txBody>
      </p:sp>
      <p:sp>
        <p:nvSpPr>
          <p:cNvPr id="60" name="Shape 58"/>
          <p:cNvSpPr/>
          <p:nvPr/>
        </p:nvSpPr>
        <p:spPr>
          <a:xfrm>
            <a:off x="6446520" y="4434840"/>
            <a:ext cx="4434840" cy="1024128"/>
          </a:xfrm>
          <a:prstGeom prst="roundRect">
            <a:avLst>
              <a:gd name="adj" fmla="val 7143"/>
            </a:avLst>
          </a:prstGeom>
          <a:solidFill>
            <a:srgbClr val="FFEDD5"/>
          </a:solidFill>
          <a:ln w="12700">
            <a:solidFill>
              <a:srgbClr val="F97316">
                <a:alpha val="75000"/>
              </a:srgbClr>
            </a:solidFill>
            <a:prstDash val="solid"/>
          </a:ln>
        </p:spPr>
      </p:sp>
      <p:sp>
        <p:nvSpPr>
          <p:cNvPr id="61" name="Text 59"/>
          <p:cNvSpPr/>
          <p:nvPr/>
        </p:nvSpPr>
        <p:spPr>
          <a:xfrm>
            <a:off x="6611112" y="4581144"/>
            <a:ext cx="4105656" cy="768096"/>
          </a:xfrm>
          <a:prstGeom prst="rect">
            <a:avLst/>
          </a:prstGeom>
          <a:noFill/>
          <a:ln/>
        </p:spPr>
        <p:txBody>
          <a:bodyPr wrap="square" lIns="254" tIns="254" rIns="254" bIns="254" rtlCol="0" anchor="ctr">
            <a:normAutofit/>
          </a:bodyPr>
          <a:lstStyle/>
          <a:p>
            <a:pPr indent="0" marL="0">
              <a:buNone/>
            </a:pPr>
            <a:r>
              <a:rPr lang="en-US" sz="1200" b="1" dirty="0">
                <a:solidFill>
                  <a:srgbClr val="111827"/>
                </a:solidFill>
                <a:latin typeface="Aptos" pitchFamily="34" charset="0"/>
                <a:ea typeface="Aptos" pitchFamily="34" charset="-122"/>
                <a:cs typeface="Aptos" pitchFamily="34" charset="-120"/>
              </a:rPr>
              <a:t>Referral profiles had strong average technical scores, but lower hire conversion — a signal to validate salary, timing, and motivation earlier.</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9FAFB"/>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9FAFB"/>
          </a:solidFill>
          <a:ln w="12700">
            <a:solidFill>
              <a:srgbClr val="F9FAFB">
                <a:alpha val="0"/>
              </a:srgbClr>
            </a:solidFill>
            <a:prstDash val="solid"/>
          </a:ln>
        </p:spPr>
      </p:sp>
      <p:sp>
        <p:nvSpPr>
          <p:cNvPr id="3" name="Shape 1"/>
          <p:cNvSpPr/>
          <p:nvPr/>
        </p:nvSpPr>
        <p:spPr>
          <a:xfrm>
            <a:off x="0" y="0"/>
            <a:ext cx="12191695" cy="109728"/>
          </a:xfrm>
          <a:prstGeom prst="rect">
            <a:avLst/>
          </a:prstGeom>
          <a:solidFill>
            <a:srgbClr val="2563EB"/>
          </a:solidFill>
          <a:ln w="12700">
            <a:solidFill>
              <a:srgbClr val="2563EB"/>
            </a:solidFill>
            <a:prstDash val="solid"/>
          </a:ln>
        </p:spPr>
      </p:sp>
      <p:sp>
        <p:nvSpPr>
          <p:cNvPr id="4" name="Text 2"/>
          <p:cNvSpPr/>
          <p:nvPr/>
        </p:nvSpPr>
        <p:spPr>
          <a:xfrm>
            <a:off x="502920" y="6510528"/>
            <a:ext cx="7132320" cy="164592"/>
          </a:xfrm>
          <a:prstGeom prst="rect">
            <a:avLst/>
          </a:prstGeom>
          <a:noFill/>
          <a:ln/>
        </p:spPr>
        <p:txBody>
          <a:bodyPr wrap="square" lIns="0" tIns="0" rIns="0" bIns="0" rtlCol="0" anchor="ctr"/>
          <a:lstStyle/>
          <a:p>
            <a:pPr indent="0" marL="0">
              <a:buNone/>
            </a:pPr>
            <a:r>
              <a:rPr lang="en-US" sz="700" dirty="0">
                <a:solidFill>
                  <a:srgbClr val="6B7280"/>
                </a:solidFill>
                <a:latin typeface="Aptos" pitchFamily="34" charset="0"/>
                <a:ea typeface="Aptos" pitchFamily="34" charset="-122"/>
                <a:cs typeface="Aptos" pitchFamily="34" charset="-120"/>
              </a:rPr>
              <a:t>Sourcing Analysis with AI  |  Recruiter decision-support view</a:t>
            </a:r>
            <a:endParaRPr lang="en-US" sz="700" dirty="0"/>
          </a:p>
        </p:txBody>
      </p:sp>
      <p:sp>
        <p:nvSpPr>
          <p:cNvPr id="5" name="Text 3"/>
          <p:cNvSpPr/>
          <p:nvPr/>
        </p:nvSpPr>
        <p:spPr>
          <a:xfrm>
            <a:off x="10424160" y="6510528"/>
            <a:ext cx="1280160" cy="164592"/>
          </a:xfrm>
          <a:prstGeom prst="rect">
            <a:avLst/>
          </a:prstGeom>
          <a:noFill/>
          <a:ln/>
        </p:spPr>
        <p:txBody>
          <a:bodyPr wrap="square" lIns="0" tIns="0" rIns="0" bIns="0" rtlCol="0" anchor="ctr"/>
          <a:lstStyle/>
          <a:p>
            <a:pPr algn="r" indent="0" marL="0">
              <a:buNone/>
            </a:pPr>
            <a:r>
              <a:rPr lang="en-US" sz="700" dirty="0">
                <a:solidFill>
                  <a:srgbClr val="6B7280"/>
                </a:solidFill>
                <a:latin typeface="Aptos" pitchFamily="34" charset="0"/>
                <a:ea typeface="Aptos" pitchFamily="34" charset="-122"/>
                <a:cs typeface="Aptos" pitchFamily="34" charset="-120"/>
              </a:rPr>
              <a:t>Fictional dataset</a:t>
            </a:r>
            <a:endParaRPr lang="en-US" sz="700" dirty="0"/>
          </a:p>
        </p:txBody>
      </p:sp>
      <p:sp>
        <p:nvSpPr>
          <p:cNvPr id="6" name="Text 4"/>
          <p:cNvSpPr/>
          <p:nvPr/>
        </p:nvSpPr>
        <p:spPr>
          <a:xfrm>
            <a:off x="594360" y="420624"/>
            <a:ext cx="2377440" cy="228600"/>
          </a:xfrm>
          <a:prstGeom prst="rect">
            <a:avLst/>
          </a:prstGeom>
          <a:noFill/>
          <a:ln/>
        </p:spPr>
        <p:txBody>
          <a:bodyPr wrap="square" lIns="0" tIns="0" rIns="0" bIns="0" rtlCol="0" anchor="ctr"/>
          <a:lstStyle/>
          <a:p>
            <a:pPr indent="0" marL="0">
              <a:buNone/>
            </a:pPr>
            <a:r>
              <a:rPr lang="en-US" sz="900" b="1" dirty="0">
                <a:solidFill>
                  <a:srgbClr val="2563EB"/>
                </a:solidFill>
                <a:latin typeface="Aptos" pitchFamily="34" charset="0"/>
                <a:ea typeface="Aptos" pitchFamily="34" charset="-122"/>
                <a:cs typeface="Aptos" pitchFamily="34" charset="-120"/>
              </a:rPr>
              <a:t>ANALYSIS 03</a:t>
            </a:r>
            <a:endParaRPr lang="en-US" sz="900" dirty="0"/>
          </a:p>
        </p:txBody>
      </p:sp>
      <p:sp>
        <p:nvSpPr>
          <p:cNvPr id="7" name="Text 5"/>
          <p:cNvSpPr/>
          <p:nvPr/>
        </p:nvSpPr>
        <p:spPr>
          <a:xfrm>
            <a:off x="566928" y="694944"/>
            <a:ext cx="7772400" cy="502920"/>
          </a:xfrm>
          <a:prstGeom prst="rect">
            <a:avLst/>
          </a:prstGeom>
          <a:noFill/>
          <a:ln/>
        </p:spPr>
        <p:txBody>
          <a:bodyPr wrap="square" lIns="0" tIns="0" rIns="0" bIns="0" rtlCol="0" anchor="ctr"/>
          <a:lstStyle/>
          <a:p>
            <a:pPr indent="0" marL="0">
              <a:buNone/>
            </a:pPr>
            <a:r>
              <a:rPr lang="en-US" sz="2400" b="1" dirty="0">
                <a:solidFill>
                  <a:srgbClr val="111827"/>
                </a:solidFill>
                <a:latin typeface="Aptos Display" pitchFamily="34" charset="0"/>
                <a:ea typeface="Aptos Display" pitchFamily="34" charset="-122"/>
                <a:cs typeface="Aptos Display" pitchFamily="34" charset="-120"/>
              </a:rPr>
              <a:t>AI turns messy notes into recruiter-ready signals</a:t>
            </a:r>
            <a:endParaRPr lang="en-US" sz="2400" dirty="0"/>
          </a:p>
        </p:txBody>
      </p:sp>
      <p:sp>
        <p:nvSpPr>
          <p:cNvPr id="8" name="Text 6"/>
          <p:cNvSpPr/>
          <p:nvPr/>
        </p:nvSpPr>
        <p:spPr>
          <a:xfrm>
            <a:off x="685800" y="1417320"/>
            <a:ext cx="4389120" cy="274320"/>
          </a:xfrm>
          <a:prstGeom prst="rect">
            <a:avLst/>
          </a:prstGeom>
          <a:noFill/>
          <a:ln/>
        </p:spPr>
        <p:txBody>
          <a:bodyPr wrap="square" lIns="0" tIns="0" rIns="0" bIns="0" rtlCol="0" anchor="ctr"/>
          <a:lstStyle/>
          <a:p>
            <a:pPr indent="0" marL="0">
              <a:buNone/>
            </a:pPr>
            <a:r>
              <a:rPr lang="en-US" sz="1250" b="1" dirty="0">
                <a:solidFill>
                  <a:srgbClr val="111827"/>
                </a:solidFill>
                <a:latin typeface="Aptos" pitchFamily="34" charset="0"/>
                <a:ea typeface="Aptos" pitchFamily="34" charset="-122"/>
                <a:cs typeface="Aptos" pitchFamily="34" charset="-120"/>
              </a:rPr>
              <a:t>Score patterns in hired vs. non-hired candidates</a:t>
            </a:r>
            <a:endParaRPr lang="en-US" sz="1250" dirty="0"/>
          </a:p>
        </p:txBody>
      </p:sp>
      <p:sp>
        <p:nvSpPr>
          <p:cNvPr id="9" name="Text 7"/>
          <p:cNvSpPr/>
          <p:nvPr/>
        </p:nvSpPr>
        <p:spPr>
          <a:xfrm>
            <a:off x="713232" y="1920240"/>
            <a:ext cx="1097280" cy="182880"/>
          </a:xfrm>
          <a:prstGeom prst="rect">
            <a:avLst/>
          </a:prstGeom>
          <a:noFill/>
          <a:ln/>
        </p:spPr>
        <p:txBody>
          <a:bodyPr wrap="square" lIns="0" tIns="0" rIns="0" bIns="0" rtlCol="0" anchor="ctr"/>
          <a:lstStyle/>
          <a:p>
            <a:pPr indent="0" marL="0">
              <a:buNone/>
            </a:pPr>
            <a:r>
              <a:rPr lang="en-US" sz="940" b="1" dirty="0">
                <a:solidFill>
                  <a:srgbClr val="111827"/>
                </a:solidFill>
                <a:latin typeface="Aptos" pitchFamily="34" charset="0"/>
                <a:ea typeface="Aptos" pitchFamily="34" charset="-122"/>
                <a:cs typeface="Aptos" pitchFamily="34" charset="-120"/>
              </a:rPr>
              <a:t>Technical</a:t>
            </a:r>
            <a:endParaRPr lang="en-US" sz="940" dirty="0"/>
          </a:p>
        </p:txBody>
      </p:sp>
      <p:sp>
        <p:nvSpPr>
          <p:cNvPr id="10" name="Shape 8"/>
          <p:cNvSpPr/>
          <p:nvPr/>
        </p:nvSpPr>
        <p:spPr>
          <a:xfrm>
            <a:off x="1874520" y="1938528"/>
            <a:ext cx="2133112" cy="164592"/>
          </a:xfrm>
          <a:prstGeom prst="rect">
            <a:avLst/>
          </a:prstGeom>
          <a:solidFill>
            <a:srgbClr val="CBD5E1"/>
          </a:solidFill>
          <a:ln w="12700">
            <a:solidFill>
              <a:srgbClr val="CBD5E1"/>
            </a:solidFill>
            <a:prstDash val="solid"/>
          </a:ln>
        </p:spPr>
      </p:sp>
      <p:sp>
        <p:nvSpPr>
          <p:cNvPr id="11" name="Shape 9"/>
          <p:cNvSpPr/>
          <p:nvPr/>
        </p:nvSpPr>
        <p:spPr>
          <a:xfrm>
            <a:off x="1874520" y="2185416"/>
            <a:ext cx="2411090" cy="164592"/>
          </a:xfrm>
          <a:prstGeom prst="rect">
            <a:avLst/>
          </a:prstGeom>
          <a:solidFill>
            <a:srgbClr val="16A34A"/>
          </a:solidFill>
          <a:ln w="12700">
            <a:solidFill>
              <a:srgbClr val="16A34A"/>
            </a:solidFill>
            <a:prstDash val="solid"/>
          </a:ln>
        </p:spPr>
      </p:sp>
      <p:sp>
        <p:nvSpPr>
          <p:cNvPr id="12" name="Text 10"/>
          <p:cNvSpPr/>
          <p:nvPr/>
        </p:nvSpPr>
        <p:spPr>
          <a:xfrm>
            <a:off x="4983480" y="1920240"/>
            <a:ext cx="1051560" cy="155448"/>
          </a:xfrm>
          <a:prstGeom prst="rect">
            <a:avLst/>
          </a:prstGeom>
          <a:noFill/>
          <a:ln/>
        </p:spPr>
        <p:txBody>
          <a:bodyPr wrap="square" lIns="0" tIns="0" rIns="0" bIns="0" rtlCol="0" anchor="ctr"/>
          <a:lstStyle/>
          <a:p>
            <a:pPr indent="0" marL="0">
              <a:buNone/>
            </a:pPr>
            <a:r>
              <a:rPr lang="en-US" sz="760" dirty="0">
                <a:solidFill>
                  <a:srgbClr val="6B7280"/>
                </a:solidFill>
                <a:latin typeface="Aptos" pitchFamily="34" charset="0"/>
                <a:ea typeface="Aptos" pitchFamily="34" charset="-122"/>
                <a:cs typeface="Aptos" pitchFamily="34" charset="-120"/>
              </a:rPr>
              <a:t>Not hired 72.9</a:t>
            </a:r>
            <a:endParaRPr lang="en-US" sz="760" dirty="0"/>
          </a:p>
        </p:txBody>
      </p:sp>
      <p:sp>
        <p:nvSpPr>
          <p:cNvPr id="13" name="Text 11"/>
          <p:cNvSpPr/>
          <p:nvPr/>
        </p:nvSpPr>
        <p:spPr>
          <a:xfrm>
            <a:off x="4983480" y="2167128"/>
            <a:ext cx="1051560" cy="155448"/>
          </a:xfrm>
          <a:prstGeom prst="rect">
            <a:avLst/>
          </a:prstGeom>
          <a:noFill/>
          <a:ln/>
        </p:spPr>
        <p:txBody>
          <a:bodyPr wrap="square" lIns="0" tIns="0" rIns="0" bIns="0" rtlCol="0" anchor="ctr"/>
          <a:lstStyle/>
          <a:p>
            <a:pPr indent="0" marL="0">
              <a:buNone/>
            </a:pPr>
            <a:r>
              <a:rPr lang="en-US" sz="760" b="1" dirty="0">
                <a:solidFill>
                  <a:srgbClr val="16A34A"/>
                </a:solidFill>
                <a:latin typeface="Aptos" pitchFamily="34" charset="0"/>
                <a:ea typeface="Aptos" pitchFamily="34" charset="-122"/>
                <a:cs typeface="Aptos" pitchFamily="34" charset="-120"/>
              </a:rPr>
              <a:t>Hired 82.4</a:t>
            </a:r>
            <a:endParaRPr lang="en-US" sz="760" dirty="0"/>
          </a:p>
        </p:txBody>
      </p:sp>
      <p:sp>
        <p:nvSpPr>
          <p:cNvPr id="14" name="Text 12"/>
          <p:cNvSpPr/>
          <p:nvPr/>
        </p:nvSpPr>
        <p:spPr>
          <a:xfrm>
            <a:off x="713232" y="2670048"/>
            <a:ext cx="1097280" cy="182880"/>
          </a:xfrm>
          <a:prstGeom prst="rect">
            <a:avLst/>
          </a:prstGeom>
          <a:noFill/>
          <a:ln/>
        </p:spPr>
        <p:txBody>
          <a:bodyPr wrap="square" lIns="0" tIns="0" rIns="0" bIns="0" rtlCol="0" anchor="ctr"/>
          <a:lstStyle/>
          <a:p>
            <a:pPr indent="0" marL="0">
              <a:buNone/>
            </a:pPr>
            <a:r>
              <a:rPr lang="en-US" sz="940" b="1" dirty="0">
                <a:solidFill>
                  <a:srgbClr val="111827"/>
                </a:solidFill>
                <a:latin typeface="Aptos" pitchFamily="34" charset="0"/>
                <a:ea typeface="Aptos" pitchFamily="34" charset="-122"/>
                <a:cs typeface="Aptos" pitchFamily="34" charset="-120"/>
              </a:rPr>
              <a:t>Behavior</a:t>
            </a:r>
            <a:endParaRPr lang="en-US" sz="940" dirty="0"/>
          </a:p>
        </p:txBody>
      </p:sp>
      <p:sp>
        <p:nvSpPr>
          <p:cNvPr id="15" name="Shape 13"/>
          <p:cNvSpPr/>
          <p:nvPr/>
        </p:nvSpPr>
        <p:spPr>
          <a:xfrm>
            <a:off x="1874520" y="2688336"/>
            <a:ext cx="2165299" cy="164592"/>
          </a:xfrm>
          <a:prstGeom prst="rect">
            <a:avLst/>
          </a:prstGeom>
          <a:solidFill>
            <a:srgbClr val="CBD5E1"/>
          </a:solidFill>
          <a:ln w="12700">
            <a:solidFill>
              <a:srgbClr val="CBD5E1"/>
            </a:solidFill>
            <a:prstDash val="solid"/>
          </a:ln>
        </p:spPr>
      </p:sp>
      <p:sp>
        <p:nvSpPr>
          <p:cNvPr id="16" name="Shape 14"/>
          <p:cNvSpPr/>
          <p:nvPr/>
        </p:nvSpPr>
        <p:spPr>
          <a:xfrm>
            <a:off x="1874520" y="2935224"/>
            <a:ext cx="2343790" cy="164592"/>
          </a:xfrm>
          <a:prstGeom prst="rect">
            <a:avLst/>
          </a:prstGeom>
          <a:solidFill>
            <a:srgbClr val="16A34A"/>
          </a:solidFill>
          <a:ln w="12700">
            <a:solidFill>
              <a:srgbClr val="16A34A"/>
            </a:solidFill>
            <a:prstDash val="solid"/>
          </a:ln>
        </p:spPr>
      </p:sp>
      <p:sp>
        <p:nvSpPr>
          <p:cNvPr id="17" name="Text 15"/>
          <p:cNvSpPr/>
          <p:nvPr/>
        </p:nvSpPr>
        <p:spPr>
          <a:xfrm>
            <a:off x="4983480" y="2670048"/>
            <a:ext cx="1051560" cy="155448"/>
          </a:xfrm>
          <a:prstGeom prst="rect">
            <a:avLst/>
          </a:prstGeom>
          <a:noFill/>
          <a:ln/>
        </p:spPr>
        <p:txBody>
          <a:bodyPr wrap="square" lIns="0" tIns="0" rIns="0" bIns="0" rtlCol="0" anchor="ctr"/>
          <a:lstStyle/>
          <a:p>
            <a:pPr indent="0" marL="0">
              <a:buNone/>
            </a:pPr>
            <a:r>
              <a:rPr lang="en-US" sz="760" dirty="0">
                <a:solidFill>
                  <a:srgbClr val="6B7280"/>
                </a:solidFill>
                <a:latin typeface="Aptos" pitchFamily="34" charset="0"/>
                <a:ea typeface="Aptos" pitchFamily="34" charset="-122"/>
                <a:cs typeface="Aptos" pitchFamily="34" charset="-120"/>
              </a:rPr>
              <a:t>Not hired 74.0</a:t>
            </a:r>
            <a:endParaRPr lang="en-US" sz="760" dirty="0"/>
          </a:p>
        </p:txBody>
      </p:sp>
      <p:sp>
        <p:nvSpPr>
          <p:cNvPr id="18" name="Text 16"/>
          <p:cNvSpPr/>
          <p:nvPr/>
        </p:nvSpPr>
        <p:spPr>
          <a:xfrm>
            <a:off x="4983480" y="2916936"/>
            <a:ext cx="1051560" cy="155448"/>
          </a:xfrm>
          <a:prstGeom prst="rect">
            <a:avLst/>
          </a:prstGeom>
          <a:noFill/>
          <a:ln/>
        </p:spPr>
        <p:txBody>
          <a:bodyPr wrap="square" lIns="0" tIns="0" rIns="0" bIns="0" rtlCol="0" anchor="ctr"/>
          <a:lstStyle/>
          <a:p>
            <a:pPr indent="0" marL="0">
              <a:buNone/>
            </a:pPr>
            <a:r>
              <a:rPr lang="en-US" sz="760" b="1" dirty="0">
                <a:solidFill>
                  <a:srgbClr val="16A34A"/>
                </a:solidFill>
                <a:latin typeface="Aptos" pitchFamily="34" charset="0"/>
                <a:ea typeface="Aptos" pitchFamily="34" charset="-122"/>
                <a:cs typeface="Aptos" pitchFamily="34" charset="-120"/>
              </a:rPr>
              <a:t>Hired 80.1</a:t>
            </a:r>
            <a:endParaRPr lang="en-US" sz="760" dirty="0"/>
          </a:p>
        </p:txBody>
      </p:sp>
      <p:sp>
        <p:nvSpPr>
          <p:cNvPr id="19" name="Text 17"/>
          <p:cNvSpPr/>
          <p:nvPr/>
        </p:nvSpPr>
        <p:spPr>
          <a:xfrm>
            <a:off x="713232" y="3419856"/>
            <a:ext cx="1097280" cy="182880"/>
          </a:xfrm>
          <a:prstGeom prst="rect">
            <a:avLst/>
          </a:prstGeom>
          <a:noFill/>
          <a:ln/>
        </p:spPr>
        <p:txBody>
          <a:bodyPr wrap="square" lIns="0" tIns="0" rIns="0" bIns="0" rtlCol="0" anchor="ctr"/>
          <a:lstStyle/>
          <a:p>
            <a:pPr indent="0" marL="0">
              <a:buNone/>
            </a:pPr>
            <a:r>
              <a:rPr lang="en-US" sz="940" b="1" dirty="0">
                <a:solidFill>
                  <a:srgbClr val="111827"/>
                </a:solidFill>
                <a:latin typeface="Aptos" pitchFamily="34" charset="0"/>
                <a:ea typeface="Aptos" pitchFamily="34" charset="-122"/>
                <a:cs typeface="Aptos" pitchFamily="34" charset="-120"/>
              </a:rPr>
              <a:t>Manager</a:t>
            </a:r>
            <a:endParaRPr lang="en-US" sz="940" dirty="0"/>
          </a:p>
        </p:txBody>
      </p:sp>
      <p:sp>
        <p:nvSpPr>
          <p:cNvPr id="20" name="Shape 18"/>
          <p:cNvSpPr/>
          <p:nvPr/>
        </p:nvSpPr>
        <p:spPr>
          <a:xfrm>
            <a:off x="1874520" y="3438144"/>
            <a:ext cx="2138964" cy="164592"/>
          </a:xfrm>
          <a:prstGeom prst="rect">
            <a:avLst/>
          </a:prstGeom>
          <a:solidFill>
            <a:srgbClr val="CBD5E1"/>
          </a:solidFill>
          <a:ln w="12700">
            <a:solidFill>
              <a:srgbClr val="CBD5E1"/>
            </a:solidFill>
            <a:prstDash val="solid"/>
          </a:ln>
        </p:spPr>
      </p:sp>
      <p:sp>
        <p:nvSpPr>
          <p:cNvPr id="21" name="Shape 19"/>
          <p:cNvSpPr/>
          <p:nvPr/>
        </p:nvSpPr>
        <p:spPr>
          <a:xfrm>
            <a:off x="1874520" y="3685032"/>
            <a:ext cx="2367199" cy="164592"/>
          </a:xfrm>
          <a:prstGeom prst="rect">
            <a:avLst/>
          </a:prstGeom>
          <a:solidFill>
            <a:srgbClr val="16A34A"/>
          </a:solidFill>
          <a:ln w="12700">
            <a:solidFill>
              <a:srgbClr val="16A34A"/>
            </a:solidFill>
            <a:prstDash val="solid"/>
          </a:ln>
        </p:spPr>
      </p:sp>
      <p:sp>
        <p:nvSpPr>
          <p:cNvPr id="22" name="Text 20"/>
          <p:cNvSpPr/>
          <p:nvPr/>
        </p:nvSpPr>
        <p:spPr>
          <a:xfrm>
            <a:off x="4983480" y="3419856"/>
            <a:ext cx="1051560" cy="155448"/>
          </a:xfrm>
          <a:prstGeom prst="rect">
            <a:avLst/>
          </a:prstGeom>
          <a:noFill/>
          <a:ln/>
        </p:spPr>
        <p:txBody>
          <a:bodyPr wrap="square" lIns="0" tIns="0" rIns="0" bIns="0" rtlCol="0" anchor="ctr"/>
          <a:lstStyle/>
          <a:p>
            <a:pPr indent="0" marL="0">
              <a:buNone/>
            </a:pPr>
            <a:r>
              <a:rPr lang="en-US" sz="760" dirty="0">
                <a:solidFill>
                  <a:srgbClr val="6B7280"/>
                </a:solidFill>
                <a:latin typeface="Aptos" pitchFamily="34" charset="0"/>
                <a:ea typeface="Aptos" pitchFamily="34" charset="-122"/>
                <a:cs typeface="Aptos" pitchFamily="34" charset="-120"/>
              </a:rPr>
              <a:t>Not hired 73.1</a:t>
            </a:r>
            <a:endParaRPr lang="en-US" sz="760" dirty="0"/>
          </a:p>
        </p:txBody>
      </p:sp>
      <p:sp>
        <p:nvSpPr>
          <p:cNvPr id="23" name="Text 21"/>
          <p:cNvSpPr/>
          <p:nvPr/>
        </p:nvSpPr>
        <p:spPr>
          <a:xfrm>
            <a:off x="4983480" y="3666744"/>
            <a:ext cx="1051560" cy="155448"/>
          </a:xfrm>
          <a:prstGeom prst="rect">
            <a:avLst/>
          </a:prstGeom>
          <a:noFill/>
          <a:ln/>
        </p:spPr>
        <p:txBody>
          <a:bodyPr wrap="square" lIns="0" tIns="0" rIns="0" bIns="0" rtlCol="0" anchor="ctr"/>
          <a:lstStyle/>
          <a:p>
            <a:pPr indent="0" marL="0">
              <a:buNone/>
            </a:pPr>
            <a:r>
              <a:rPr lang="en-US" sz="760" b="1" dirty="0">
                <a:solidFill>
                  <a:srgbClr val="16A34A"/>
                </a:solidFill>
                <a:latin typeface="Aptos" pitchFamily="34" charset="0"/>
                <a:ea typeface="Aptos" pitchFamily="34" charset="-122"/>
                <a:cs typeface="Aptos" pitchFamily="34" charset="-120"/>
              </a:rPr>
              <a:t>Hired 80.9</a:t>
            </a:r>
            <a:endParaRPr lang="en-US" sz="760" dirty="0"/>
          </a:p>
        </p:txBody>
      </p:sp>
      <p:sp>
        <p:nvSpPr>
          <p:cNvPr id="24" name="Shape 22"/>
          <p:cNvSpPr/>
          <p:nvPr/>
        </p:nvSpPr>
        <p:spPr>
          <a:xfrm>
            <a:off x="822960" y="4526280"/>
            <a:ext cx="4846320" cy="566928"/>
          </a:xfrm>
          <a:prstGeom prst="roundRect">
            <a:avLst>
              <a:gd name="adj" fmla="val 12903"/>
            </a:avLst>
          </a:prstGeom>
          <a:solidFill>
            <a:srgbClr val="FFFFFF"/>
          </a:solidFill>
          <a:ln w="12700">
            <a:solidFill>
              <a:srgbClr val="E5E7EB">
                <a:alpha val="75000"/>
              </a:srgbClr>
            </a:solidFill>
            <a:prstDash val="solid"/>
          </a:ln>
        </p:spPr>
      </p:sp>
      <p:sp>
        <p:nvSpPr>
          <p:cNvPr id="25" name="Text 23"/>
          <p:cNvSpPr/>
          <p:nvPr/>
        </p:nvSpPr>
        <p:spPr>
          <a:xfrm>
            <a:off x="987552" y="4672584"/>
            <a:ext cx="4517136" cy="310896"/>
          </a:xfrm>
          <a:prstGeom prst="rect">
            <a:avLst/>
          </a:prstGeom>
          <a:noFill/>
          <a:ln/>
        </p:spPr>
        <p:txBody>
          <a:bodyPr wrap="square" lIns="254" tIns="254" rIns="254" bIns="254" rtlCol="0" anchor="ctr">
            <a:normAutofit/>
          </a:bodyPr>
          <a:lstStyle/>
          <a:p>
            <a:pPr indent="0" marL="0">
              <a:buNone/>
            </a:pPr>
            <a:r>
              <a:rPr lang="en-US" sz="1200" b="1" dirty="0">
                <a:solidFill>
                  <a:srgbClr val="111827"/>
                </a:solidFill>
                <a:latin typeface="Aptos" pitchFamily="34" charset="0"/>
                <a:ea typeface="Aptos" pitchFamily="34" charset="-122"/>
                <a:cs typeface="Aptos" pitchFamily="34" charset="-120"/>
              </a:rPr>
              <a:t>Hired candidates show stronger average technical, behavior, and manager scores.</a:t>
            </a:r>
            <a:endParaRPr lang="en-US" sz="1200" dirty="0"/>
          </a:p>
        </p:txBody>
      </p:sp>
      <p:sp>
        <p:nvSpPr>
          <p:cNvPr id="26" name="Shape 24"/>
          <p:cNvSpPr/>
          <p:nvPr/>
        </p:nvSpPr>
        <p:spPr>
          <a:xfrm>
            <a:off x="6217920" y="1280160"/>
            <a:ext cx="0" cy="4389120"/>
          </a:xfrm>
          <a:prstGeom prst="line">
            <a:avLst/>
          </a:prstGeom>
          <a:noFill/>
          <a:ln w="12700">
            <a:solidFill>
              <a:srgbClr val="E5E7EB"/>
            </a:solidFill>
            <a:prstDash val="solid"/>
          </a:ln>
        </p:spPr>
      </p:sp>
      <p:sp>
        <p:nvSpPr>
          <p:cNvPr id="27" name="Text 25"/>
          <p:cNvSpPr/>
          <p:nvPr/>
        </p:nvSpPr>
        <p:spPr>
          <a:xfrm>
            <a:off x="6629400" y="1417320"/>
            <a:ext cx="3474720" cy="274320"/>
          </a:xfrm>
          <a:prstGeom prst="rect">
            <a:avLst/>
          </a:prstGeom>
          <a:noFill/>
          <a:ln/>
        </p:spPr>
        <p:txBody>
          <a:bodyPr wrap="square" lIns="0" tIns="0" rIns="0" bIns="0" rtlCol="0" anchor="ctr"/>
          <a:lstStyle/>
          <a:p>
            <a:pPr indent="0" marL="0">
              <a:buNone/>
            </a:pPr>
            <a:r>
              <a:rPr lang="en-US" sz="1250" b="1" dirty="0">
                <a:solidFill>
                  <a:srgbClr val="111827"/>
                </a:solidFill>
                <a:latin typeface="Aptos" pitchFamily="34" charset="0"/>
                <a:ea typeface="Aptos" pitchFamily="34" charset="-122"/>
                <a:cs typeface="Aptos" pitchFamily="34" charset="-120"/>
              </a:rPr>
              <a:t>AI-assisted note tagging</a:t>
            </a:r>
            <a:endParaRPr lang="en-US" sz="1250" dirty="0"/>
          </a:p>
        </p:txBody>
      </p:sp>
      <p:sp>
        <p:nvSpPr>
          <p:cNvPr id="28" name="Text 26"/>
          <p:cNvSpPr/>
          <p:nvPr/>
        </p:nvSpPr>
        <p:spPr>
          <a:xfrm>
            <a:off x="6656832" y="1901952"/>
            <a:ext cx="2468880" cy="201168"/>
          </a:xfrm>
          <a:prstGeom prst="rect">
            <a:avLst/>
          </a:prstGeom>
          <a:noFill/>
          <a:ln/>
        </p:spPr>
        <p:txBody>
          <a:bodyPr wrap="square" lIns="0" tIns="0" rIns="0" bIns="0" rtlCol="0" anchor="ctr"/>
          <a:lstStyle/>
          <a:p>
            <a:pPr indent="0" marL="0">
              <a:buNone/>
            </a:pPr>
            <a:r>
              <a:rPr lang="en-US" sz="950" b="1" dirty="0">
                <a:solidFill>
                  <a:srgbClr val="6B7280"/>
                </a:solidFill>
                <a:latin typeface="Aptos" pitchFamily="34" charset="0"/>
                <a:ea typeface="Aptos" pitchFamily="34" charset="-122"/>
                <a:cs typeface="Aptos" pitchFamily="34" charset="-120"/>
              </a:rPr>
              <a:t>Unstructured recruiter notes</a:t>
            </a:r>
            <a:endParaRPr lang="en-US" sz="950" dirty="0"/>
          </a:p>
        </p:txBody>
      </p:sp>
      <p:sp>
        <p:nvSpPr>
          <p:cNvPr id="29" name="Shape 27"/>
          <p:cNvSpPr/>
          <p:nvPr/>
        </p:nvSpPr>
        <p:spPr>
          <a:xfrm>
            <a:off x="6656832" y="2249424"/>
            <a:ext cx="3474720" cy="502920"/>
          </a:xfrm>
          <a:prstGeom prst="roundRect">
            <a:avLst>
              <a:gd name="adj" fmla="val 14545"/>
            </a:avLst>
          </a:prstGeom>
          <a:solidFill>
            <a:srgbClr val="FFFFFF"/>
          </a:solidFill>
          <a:ln w="12700">
            <a:solidFill>
              <a:srgbClr val="E5E7EB">
                <a:alpha val="75000"/>
              </a:srgbClr>
            </a:solidFill>
            <a:prstDash val="solid"/>
          </a:ln>
        </p:spPr>
      </p:sp>
      <p:sp>
        <p:nvSpPr>
          <p:cNvPr id="30" name="Text 28"/>
          <p:cNvSpPr/>
          <p:nvPr/>
        </p:nvSpPr>
        <p:spPr>
          <a:xfrm>
            <a:off x="6821424" y="2395728"/>
            <a:ext cx="3145536" cy="246888"/>
          </a:xfrm>
          <a:prstGeom prst="rect">
            <a:avLst/>
          </a:prstGeom>
          <a:noFill/>
          <a:ln/>
        </p:spPr>
        <p:txBody>
          <a:bodyPr wrap="square" lIns="254" tIns="254" rIns="254" bIns="254" rtlCol="0" anchor="ctr">
            <a:normAutofit/>
          </a:bodyPr>
          <a:lstStyle/>
          <a:p>
            <a:pPr indent="0" marL="0">
              <a:buNone/>
            </a:pPr>
            <a:r>
              <a:rPr lang="en-US" sz="1200" b="1" dirty="0">
                <a:solidFill>
                  <a:srgbClr val="374151"/>
                </a:solidFill>
                <a:latin typeface="Aptos" pitchFamily="34" charset="0"/>
                <a:ea typeface="Aptos" pitchFamily="34" charset="-122"/>
                <a:cs typeface="Aptos" pitchFamily="34" charset="-120"/>
              </a:rPr>
              <a:t>“Strong profile, but salary above budget.”</a:t>
            </a:r>
            <a:endParaRPr lang="en-US" sz="1200" dirty="0"/>
          </a:p>
        </p:txBody>
      </p:sp>
      <p:sp>
        <p:nvSpPr>
          <p:cNvPr id="31" name="Shape 29"/>
          <p:cNvSpPr/>
          <p:nvPr/>
        </p:nvSpPr>
        <p:spPr>
          <a:xfrm>
            <a:off x="6656832" y="2880360"/>
            <a:ext cx="3474720" cy="502920"/>
          </a:xfrm>
          <a:prstGeom prst="roundRect">
            <a:avLst>
              <a:gd name="adj" fmla="val 14545"/>
            </a:avLst>
          </a:prstGeom>
          <a:solidFill>
            <a:srgbClr val="FFFFFF"/>
          </a:solidFill>
          <a:ln w="12700">
            <a:solidFill>
              <a:srgbClr val="E5E7EB">
                <a:alpha val="75000"/>
              </a:srgbClr>
            </a:solidFill>
            <a:prstDash val="solid"/>
          </a:ln>
        </p:spPr>
      </p:sp>
      <p:sp>
        <p:nvSpPr>
          <p:cNvPr id="32" name="Text 30"/>
          <p:cNvSpPr/>
          <p:nvPr/>
        </p:nvSpPr>
        <p:spPr>
          <a:xfrm>
            <a:off x="6821424" y="3026664"/>
            <a:ext cx="3145536" cy="246888"/>
          </a:xfrm>
          <a:prstGeom prst="rect">
            <a:avLst/>
          </a:prstGeom>
          <a:noFill/>
          <a:ln/>
        </p:spPr>
        <p:txBody>
          <a:bodyPr wrap="square" lIns="254" tIns="254" rIns="254" bIns="254" rtlCol="0" anchor="ctr">
            <a:normAutofit/>
          </a:bodyPr>
          <a:lstStyle/>
          <a:p>
            <a:pPr indent="0" marL="0">
              <a:buNone/>
            </a:pPr>
            <a:r>
              <a:rPr lang="en-US" sz="1200" b="1" dirty="0">
                <a:solidFill>
                  <a:srgbClr val="374151"/>
                </a:solidFill>
                <a:latin typeface="Aptos" pitchFamily="34" charset="0"/>
                <a:ea typeface="Aptos" pitchFamily="34" charset="-122"/>
                <a:cs typeface="Aptos" pitchFamily="34" charset="-120"/>
              </a:rPr>
              <a:t>“Stopped replying after screening.”</a:t>
            </a:r>
            <a:endParaRPr lang="en-US" sz="1200" dirty="0"/>
          </a:p>
        </p:txBody>
      </p:sp>
      <p:sp>
        <p:nvSpPr>
          <p:cNvPr id="33" name="Shape 31"/>
          <p:cNvSpPr/>
          <p:nvPr/>
        </p:nvSpPr>
        <p:spPr>
          <a:xfrm>
            <a:off x="8412480" y="3566160"/>
            <a:ext cx="0" cy="502920"/>
          </a:xfrm>
          <a:prstGeom prst="line">
            <a:avLst/>
          </a:prstGeom>
          <a:noFill/>
          <a:ln w="19050">
            <a:solidFill>
              <a:srgbClr val="2563EB"/>
            </a:solidFill>
            <a:prstDash val="solid"/>
            <a:tailEnd type="triangle"/>
          </a:ln>
        </p:spPr>
      </p:sp>
      <p:sp>
        <p:nvSpPr>
          <p:cNvPr id="34" name="Text 32"/>
          <p:cNvSpPr/>
          <p:nvPr/>
        </p:nvSpPr>
        <p:spPr>
          <a:xfrm>
            <a:off x="6656832" y="4233672"/>
            <a:ext cx="2286000" cy="201168"/>
          </a:xfrm>
          <a:prstGeom prst="rect">
            <a:avLst/>
          </a:prstGeom>
          <a:noFill/>
          <a:ln/>
        </p:spPr>
        <p:txBody>
          <a:bodyPr wrap="square" lIns="0" tIns="0" rIns="0" bIns="0" rtlCol="0" anchor="ctr"/>
          <a:lstStyle/>
          <a:p>
            <a:pPr indent="0" marL="0">
              <a:buNone/>
            </a:pPr>
            <a:r>
              <a:rPr lang="en-US" sz="950" b="1" dirty="0">
                <a:solidFill>
                  <a:srgbClr val="6B7280"/>
                </a:solidFill>
                <a:latin typeface="Aptos" pitchFamily="34" charset="0"/>
                <a:ea typeface="Aptos" pitchFamily="34" charset="-122"/>
                <a:cs typeface="Aptos" pitchFamily="34" charset="-120"/>
              </a:rPr>
              <a:t>Structured AI tags</a:t>
            </a:r>
            <a:endParaRPr lang="en-US" sz="950" dirty="0"/>
          </a:p>
        </p:txBody>
      </p:sp>
      <p:sp>
        <p:nvSpPr>
          <p:cNvPr id="35" name="Shape 33"/>
          <p:cNvSpPr/>
          <p:nvPr/>
        </p:nvSpPr>
        <p:spPr>
          <a:xfrm>
            <a:off x="6656832" y="4572000"/>
            <a:ext cx="1143000" cy="310896"/>
          </a:xfrm>
          <a:prstGeom prst="roundRect">
            <a:avLst>
              <a:gd name="adj" fmla="val 20588"/>
            </a:avLst>
          </a:prstGeom>
          <a:solidFill>
            <a:srgbClr val="FFEDD5"/>
          </a:solidFill>
          <a:ln w="12700">
            <a:solidFill>
              <a:srgbClr val="FFEDD5"/>
            </a:solidFill>
            <a:prstDash val="solid"/>
          </a:ln>
        </p:spPr>
      </p:sp>
      <p:sp>
        <p:nvSpPr>
          <p:cNvPr id="36" name="Text 34"/>
          <p:cNvSpPr/>
          <p:nvPr/>
        </p:nvSpPr>
        <p:spPr>
          <a:xfrm>
            <a:off x="6729984" y="4640580"/>
            <a:ext cx="996696" cy="128016"/>
          </a:xfrm>
          <a:prstGeom prst="rect">
            <a:avLst/>
          </a:prstGeom>
          <a:noFill/>
          <a:ln/>
        </p:spPr>
        <p:txBody>
          <a:bodyPr wrap="square" lIns="0" tIns="0" rIns="0" bIns="0" rtlCol="0" anchor="ctr"/>
          <a:lstStyle/>
          <a:p>
            <a:pPr algn="ctr" indent="0" marL="0">
              <a:buNone/>
            </a:pPr>
            <a:r>
              <a:rPr lang="en-US" sz="830" b="1" dirty="0">
                <a:solidFill>
                  <a:srgbClr val="F97316"/>
                </a:solidFill>
                <a:latin typeface="Aptos" pitchFamily="34" charset="0"/>
                <a:ea typeface="Aptos" pitchFamily="34" charset="-122"/>
                <a:cs typeface="Aptos" pitchFamily="34" charset="-120"/>
              </a:rPr>
              <a:t>Salary risk</a:t>
            </a:r>
            <a:endParaRPr lang="en-US" sz="830" dirty="0"/>
          </a:p>
        </p:txBody>
      </p:sp>
      <p:sp>
        <p:nvSpPr>
          <p:cNvPr id="37" name="Shape 35"/>
          <p:cNvSpPr/>
          <p:nvPr/>
        </p:nvSpPr>
        <p:spPr>
          <a:xfrm>
            <a:off x="7936992" y="4572000"/>
            <a:ext cx="1389888" cy="310896"/>
          </a:xfrm>
          <a:prstGeom prst="roundRect">
            <a:avLst>
              <a:gd name="adj" fmla="val 20588"/>
            </a:avLst>
          </a:prstGeom>
          <a:solidFill>
            <a:srgbClr val="FEE2E2"/>
          </a:solidFill>
          <a:ln w="12700">
            <a:solidFill>
              <a:srgbClr val="FEE2E2"/>
            </a:solidFill>
            <a:prstDash val="solid"/>
          </a:ln>
        </p:spPr>
      </p:sp>
      <p:sp>
        <p:nvSpPr>
          <p:cNvPr id="38" name="Text 36"/>
          <p:cNvSpPr/>
          <p:nvPr/>
        </p:nvSpPr>
        <p:spPr>
          <a:xfrm>
            <a:off x="8010144" y="4640580"/>
            <a:ext cx="1243584" cy="128016"/>
          </a:xfrm>
          <a:prstGeom prst="rect">
            <a:avLst/>
          </a:prstGeom>
          <a:noFill/>
          <a:ln/>
        </p:spPr>
        <p:txBody>
          <a:bodyPr wrap="square" lIns="0" tIns="0" rIns="0" bIns="0" rtlCol="0" anchor="ctr"/>
          <a:lstStyle/>
          <a:p>
            <a:pPr algn="ctr" indent="0" marL="0">
              <a:buNone/>
            </a:pPr>
            <a:r>
              <a:rPr lang="en-US" sz="830" b="1" dirty="0">
                <a:solidFill>
                  <a:srgbClr val="DC2626"/>
                </a:solidFill>
                <a:latin typeface="Aptos" pitchFamily="34" charset="0"/>
                <a:ea typeface="Aptos" pitchFamily="34" charset="-122"/>
                <a:cs typeface="Aptos" pitchFamily="34" charset="-120"/>
              </a:rPr>
              <a:t>Low engagement</a:t>
            </a:r>
            <a:endParaRPr lang="en-US" sz="830" dirty="0"/>
          </a:p>
        </p:txBody>
      </p:sp>
      <p:sp>
        <p:nvSpPr>
          <p:cNvPr id="39" name="Shape 37"/>
          <p:cNvSpPr/>
          <p:nvPr/>
        </p:nvSpPr>
        <p:spPr>
          <a:xfrm>
            <a:off x="9491472" y="4572000"/>
            <a:ext cx="1078992" cy="310896"/>
          </a:xfrm>
          <a:prstGeom prst="roundRect">
            <a:avLst>
              <a:gd name="adj" fmla="val 20588"/>
            </a:avLst>
          </a:prstGeom>
          <a:solidFill>
            <a:srgbClr val="DCFCE7"/>
          </a:solidFill>
          <a:ln w="12700">
            <a:solidFill>
              <a:srgbClr val="DCFCE7"/>
            </a:solidFill>
            <a:prstDash val="solid"/>
          </a:ln>
        </p:spPr>
      </p:sp>
      <p:sp>
        <p:nvSpPr>
          <p:cNvPr id="40" name="Text 38"/>
          <p:cNvSpPr/>
          <p:nvPr/>
        </p:nvSpPr>
        <p:spPr>
          <a:xfrm>
            <a:off x="9564624" y="4640580"/>
            <a:ext cx="932688" cy="128016"/>
          </a:xfrm>
          <a:prstGeom prst="rect">
            <a:avLst/>
          </a:prstGeom>
          <a:noFill/>
          <a:ln/>
        </p:spPr>
        <p:txBody>
          <a:bodyPr wrap="square" lIns="0" tIns="0" rIns="0" bIns="0" rtlCol="0" anchor="ctr"/>
          <a:lstStyle/>
          <a:p>
            <a:pPr algn="ctr" indent="0" marL="0">
              <a:buNone/>
            </a:pPr>
            <a:r>
              <a:rPr lang="en-US" sz="830" b="1" dirty="0">
                <a:solidFill>
                  <a:srgbClr val="16A34A"/>
                </a:solidFill>
                <a:latin typeface="Aptos" pitchFamily="34" charset="0"/>
                <a:ea typeface="Aptos" pitchFamily="34" charset="-122"/>
                <a:cs typeface="Aptos" pitchFamily="34" charset="-120"/>
              </a:rPr>
              <a:t>Strong fit</a:t>
            </a:r>
            <a:endParaRPr lang="en-US" sz="830" dirty="0"/>
          </a:p>
        </p:txBody>
      </p:sp>
      <p:sp>
        <p:nvSpPr>
          <p:cNvPr id="41" name="Shape 39"/>
          <p:cNvSpPr/>
          <p:nvPr/>
        </p:nvSpPr>
        <p:spPr>
          <a:xfrm>
            <a:off x="6656832" y="5001768"/>
            <a:ext cx="1170432" cy="310896"/>
          </a:xfrm>
          <a:prstGeom prst="roundRect">
            <a:avLst>
              <a:gd name="adj" fmla="val 20588"/>
            </a:avLst>
          </a:prstGeom>
          <a:solidFill>
            <a:srgbClr val="DBEAFE"/>
          </a:solidFill>
          <a:ln w="12700">
            <a:solidFill>
              <a:srgbClr val="DBEAFE"/>
            </a:solidFill>
            <a:prstDash val="solid"/>
          </a:ln>
        </p:spPr>
      </p:sp>
      <p:sp>
        <p:nvSpPr>
          <p:cNvPr id="42" name="Text 40"/>
          <p:cNvSpPr/>
          <p:nvPr/>
        </p:nvSpPr>
        <p:spPr>
          <a:xfrm>
            <a:off x="6729984" y="5070348"/>
            <a:ext cx="1024128" cy="128016"/>
          </a:xfrm>
          <a:prstGeom prst="rect">
            <a:avLst/>
          </a:prstGeom>
          <a:noFill/>
          <a:ln/>
        </p:spPr>
        <p:txBody>
          <a:bodyPr wrap="square" lIns="0" tIns="0" rIns="0" bIns="0" rtlCol="0" anchor="ctr"/>
          <a:lstStyle/>
          <a:p>
            <a:pPr algn="ctr" indent="0" marL="0">
              <a:buNone/>
            </a:pPr>
            <a:r>
              <a:rPr lang="en-US" sz="830" b="1" dirty="0">
                <a:solidFill>
                  <a:srgbClr val="2563EB"/>
                </a:solidFill>
                <a:latin typeface="Aptos" pitchFamily="34" charset="0"/>
                <a:ea typeface="Aptos" pitchFamily="34" charset="-122"/>
                <a:cs typeface="Aptos" pitchFamily="34" charset="-120"/>
              </a:rPr>
              <a:t>Timing issue</a:t>
            </a:r>
            <a:endParaRPr lang="en-US" sz="830" dirty="0"/>
          </a:p>
        </p:txBody>
      </p:sp>
      <p:sp>
        <p:nvSpPr>
          <p:cNvPr id="43" name="Shape 41"/>
          <p:cNvSpPr/>
          <p:nvPr/>
        </p:nvSpPr>
        <p:spPr>
          <a:xfrm>
            <a:off x="8010144" y="5001768"/>
            <a:ext cx="1627632" cy="310896"/>
          </a:xfrm>
          <a:prstGeom prst="roundRect">
            <a:avLst>
              <a:gd name="adj" fmla="val 20588"/>
            </a:avLst>
          </a:prstGeom>
          <a:solidFill>
            <a:srgbClr val="FEE2E2"/>
          </a:solidFill>
          <a:ln w="12700">
            <a:solidFill>
              <a:srgbClr val="FEE2E2"/>
            </a:solidFill>
            <a:prstDash val="solid"/>
          </a:ln>
        </p:spPr>
      </p:sp>
      <p:sp>
        <p:nvSpPr>
          <p:cNvPr id="44" name="Text 42"/>
          <p:cNvSpPr/>
          <p:nvPr/>
        </p:nvSpPr>
        <p:spPr>
          <a:xfrm>
            <a:off x="8083296" y="5070348"/>
            <a:ext cx="1481328" cy="128016"/>
          </a:xfrm>
          <a:prstGeom prst="rect">
            <a:avLst/>
          </a:prstGeom>
          <a:noFill/>
          <a:ln/>
        </p:spPr>
        <p:txBody>
          <a:bodyPr wrap="square" lIns="0" tIns="0" rIns="0" bIns="0" rtlCol="0" anchor="ctr"/>
          <a:lstStyle/>
          <a:p>
            <a:pPr algn="ctr" indent="0" marL="0">
              <a:buNone/>
            </a:pPr>
            <a:r>
              <a:rPr lang="en-US" sz="830" b="1" dirty="0">
                <a:solidFill>
                  <a:srgbClr val="DC2626"/>
                </a:solidFill>
                <a:latin typeface="Aptos" pitchFamily="34" charset="0"/>
                <a:ea typeface="Aptos" pitchFamily="34" charset="-122"/>
                <a:cs typeface="Aptos" pitchFamily="34" charset="-120"/>
              </a:rPr>
              <a:t>Technical mismatch</a:t>
            </a:r>
            <a:endParaRPr lang="en-US" sz="830" dirty="0"/>
          </a:p>
        </p:txBody>
      </p:sp>
      <p:sp>
        <p:nvSpPr>
          <p:cNvPr id="45" name="Text 43"/>
          <p:cNvSpPr/>
          <p:nvPr/>
        </p:nvSpPr>
        <p:spPr>
          <a:xfrm>
            <a:off x="6656832" y="5596128"/>
            <a:ext cx="4114800" cy="246888"/>
          </a:xfrm>
          <a:prstGeom prst="rect">
            <a:avLst/>
          </a:prstGeom>
          <a:noFill/>
          <a:ln/>
        </p:spPr>
        <p:txBody>
          <a:bodyPr wrap="square" lIns="0" tIns="0" rIns="0" bIns="0" rtlCol="0" anchor="ctr"/>
          <a:lstStyle/>
          <a:p>
            <a:pPr indent="0" marL="0">
              <a:buNone/>
            </a:pPr>
            <a:r>
              <a:rPr lang="en-US" sz="1020" b="1" dirty="0">
                <a:solidFill>
                  <a:srgbClr val="111827"/>
                </a:solidFill>
                <a:latin typeface="Aptos" pitchFamily="34" charset="0"/>
                <a:ea typeface="Aptos" pitchFamily="34" charset="-122"/>
                <a:cs typeface="Aptos" pitchFamily="34" charset="-120"/>
              </a:rPr>
              <a:t>AI supports pattern recognition; it does not replace recruiter judgment.</a:t>
            </a:r>
            <a:endParaRPr lang="en-US" sz="10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9FAFB"/>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9FAFB"/>
          </a:solidFill>
          <a:ln w="12700">
            <a:solidFill>
              <a:srgbClr val="F9FAFB">
                <a:alpha val="0"/>
              </a:srgbClr>
            </a:solidFill>
            <a:prstDash val="solid"/>
          </a:ln>
        </p:spPr>
      </p:sp>
      <p:sp>
        <p:nvSpPr>
          <p:cNvPr id="3" name="Shape 1"/>
          <p:cNvSpPr/>
          <p:nvPr/>
        </p:nvSpPr>
        <p:spPr>
          <a:xfrm>
            <a:off x="0" y="0"/>
            <a:ext cx="12191695" cy="109728"/>
          </a:xfrm>
          <a:prstGeom prst="rect">
            <a:avLst/>
          </a:prstGeom>
          <a:solidFill>
            <a:srgbClr val="2563EB"/>
          </a:solidFill>
          <a:ln w="12700">
            <a:solidFill>
              <a:srgbClr val="2563EB"/>
            </a:solidFill>
            <a:prstDash val="solid"/>
          </a:ln>
        </p:spPr>
      </p:sp>
      <p:sp>
        <p:nvSpPr>
          <p:cNvPr id="4" name="Text 2"/>
          <p:cNvSpPr/>
          <p:nvPr/>
        </p:nvSpPr>
        <p:spPr>
          <a:xfrm>
            <a:off x="502920" y="6510528"/>
            <a:ext cx="7132320" cy="164592"/>
          </a:xfrm>
          <a:prstGeom prst="rect">
            <a:avLst/>
          </a:prstGeom>
          <a:noFill/>
          <a:ln/>
        </p:spPr>
        <p:txBody>
          <a:bodyPr wrap="square" lIns="0" tIns="0" rIns="0" bIns="0" rtlCol="0" anchor="ctr"/>
          <a:lstStyle/>
          <a:p>
            <a:pPr indent="0" marL="0">
              <a:buNone/>
            </a:pPr>
            <a:r>
              <a:rPr lang="en-US" sz="700" dirty="0">
                <a:solidFill>
                  <a:srgbClr val="6B7280"/>
                </a:solidFill>
                <a:latin typeface="Aptos" pitchFamily="34" charset="0"/>
                <a:ea typeface="Aptos" pitchFamily="34" charset="-122"/>
                <a:cs typeface="Aptos" pitchFamily="34" charset="-120"/>
              </a:rPr>
              <a:t>Sourcing Analysis with AI  |  Recruiter decision-support view</a:t>
            </a:r>
            <a:endParaRPr lang="en-US" sz="700" dirty="0"/>
          </a:p>
        </p:txBody>
      </p:sp>
      <p:sp>
        <p:nvSpPr>
          <p:cNvPr id="5" name="Text 3"/>
          <p:cNvSpPr/>
          <p:nvPr/>
        </p:nvSpPr>
        <p:spPr>
          <a:xfrm>
            <a:off x="10424160" y="6510528"/>
            <a:ext cx="1280160" cy="164592"/>
          </a:xfrm>
          <a:prstGeom prst="rect">
            <a:avLst/>
          </a:prstGeom>
          <a:noFill/>
          <a:ln/>
        </p:spPr>
        <p:txBody>
          <a:bodyPr wrap="square" lIns="0" tIns="0" rIns="0" bIns="0" rtlCol="0" anchor="ctr"/>
          <a:lstStyle/>
          <a:p>
            <a:pPr algn="r" indent="0" marL="0">
              <a:buNone/>
            </a:pPr>
            <a:r>
              <a:rPr lang="en-US" sz="700" dirty="0">
                <a:solidFill>
                  <a:srgbClr val="6B7280"/>
                </a:solidFill>
                <a:latin typeface="Aptos" pitchFamily="34" charset="0"/>
                <a:ea typeface="Aptos" pitchFamily="34" charset="-122"/>
                <a:cs typeface="Aptos" pitchFamily="34" charset="-120"/>
              </a:rPr>
              <a:t>Fictional dataset</a:t>
            </a:r>
            <a:endParaRPr lang="en-US" sz="700" dirty="0"/>
          </a:p>
        </p:txBody>
      </p:sp>
      <p:sp>
        <p:nvSpPr>
          <p:cNvPr id="6" name="Text 4"/>
          <p:cNvSpPr/>
          <p:nvPr/>
        </p:nvSpPr>
        <p:spPr>
          <a:xfrm>
            <a:off x="594360" y="420624"/>
            <a:ext cx="2377440" cy="228600"/>
          </a:xfrm>
          <a:prstGeom prst="rect">
            <a:avLst/>
          </a:prstGeom>
          <a:noFill/>
          <a:ln/>
        </p:spPr>
        <p:txBody>
          <a:bodyPr wrap="square" lIns="0" tIns="0" rIns="0" bIns="0" rtlCol="0" anchor="ctr"/>
          <a:lstStyle/>
          <a:p>
            <a:pPr indent="0" marL="0">
              <a:buNone/>
            </a:pPr>
            <a:r>
              <a:rPr lang="en-US" sz="900" b="1" dirty="0">
                <a:solidFill>
                  <a:srgbClr val="2563EB"/>
                </a:solidFill>
                <a:latin typeface="Aptos" pitchFamily="34" charset="0"/>
                <a:ea typeface="Aptos" pitchFamily="34" charset="-122"/>
                <a:cs typeface="Aptos" pitchFamily="34" charset="-120"/>
              </a:rPr>
              <a:t>RECOMMENDATION</a:t>
            </a:r>
            <a:endParaRPr lang="en-US" sz="900" dirty="0"/>
          </a:p>
        </p:txBody>
      </p:sp>
      <p:sp>
        <p:nvSpPr>
          <p:cNvPr id="7" name="Text 5"/>
          <p:cNvSpPr/>
          <p:nvPr/>
        </p:nvSpPr>
        <p:spPr>
          <a:xfrm>
            <a:off x="566928" y="694944"/>
            <a:ext cx="7772400" cy="502920"/>
          </a:xfrm>
          <a:prstGeom prst="rect">
            <a:avLst/>
          </a:prstGeom>
          <a:noFill/>
          <a:ln/>
        </p:spPr>
        <p:txBody>
          <a:bodyPr wrap="square" lIns="0" tIns="0" rIns="0" bIns="0" rtlCol="0" anchor="ctr"/>
          <a:lstStyle/>
          <a:p>
            <a:pPr indent="0" marL="0">
              <a:buNone/>
            </a:pPr>
            <a:r>
              <a:rPr lang="en-US" sz="2400" b="1" dirty="0">
                <a:solidFill>
                  <a:srgbClr val="111827"/>
                </a:solidFill>
                <a:latin typeface="Aptos Display" pitchFamily="34" charset="0"/>
                <a:ea typeface="Aptos Display" pitchFamily="34" charset="-122"/>
                <a:cs typeface="Aptos Display" pitchFamily="34" charset="-120"/>
              </a:rPr>
              <a:t>Recruiter action framework</a:t>
            </a:r>
            <a:endParaRPr lang="en-US" sz="2400" dirty="0"/>
          </a:p>
        </p:txBody>
      </p:sp>
      <p:sp>
        <p:nvSpPr>
          <p:cNvPr id="8" name="Text 6"/>
          <p:cNvSpPr/>
          <p:nvPr/>
        </p:nvSpPr>
        <p:spPr>
          <a:xfrm>
            <a:off x="658368" y="1261872"/>
            <a:ext cx="7772400" cy="320040"/>
          </a:xfrm>
          <a:prstGeom prst="rect">
            <a:avLst/>
          </a:prstGeom>
          <a:noFill/>
          <a:ln/>
        </p:spPr>
        <p:txBody>
          <a:bodyPr wrap="square" lIns="0" tIns="0" rIns="0" bIns="0" rtlCol="0" anchor="ctr"/>
          <a:lstStyle/>
          <a:p>
            <a:pPr indent="0" marL="0">
              <a:buNone/>
            </a:pPr>
            <a:r>
              <a:rPr lang="en-US" sz="1400" dirty="0">
                <a:solidFill>
                  <a:srgbClr val="374151"/>
                </a:solidFill>
                <a:latin typeface="Aptos" pitchFamily="34" charset="0"/>
                <a:ea typeface="Aptos" pitchFamily="34" charset="-122"/>
                <a:cs typeface="Aptos" pitchFamily="34" charset="-120"/>
              </a:rPr>
              <a:t>The analysis becomes more valuable when it translates into consistent recruiter action.</a:t>
            </a:r>
            <a:endParaRPr lang="en-US" sz="1400" dirty="0"/>
          </a:p>
        </p:txBody>
      </p:sp>
      <p:sp>
        <p:nvSpPr>
          <p:cNvPr id="9" name="Shape 7"/>
          <p:cNvSpPr/>
          <p:nvPr/>
        </p:nvSpPr>
        <p:spPr>
          <a:xfrm>
            <a:off x="777240" y="1828800"/>
            <a:ext cx="1965960" cy="502920"/>
          </a:xfrm>
          <a:prstGeom prst="roundRect">
            <a:avLst>
              <a:gd name="adj" fmla="val 10909"/>
            </a:avLst>
          </a:prstGeom>
          <a:solidFill>
            <a:srgbClr val="000000"/>
          </a:solidFill>
          <a:ln w="12700">
            <a:solidFill>
              <a:srgbClr val="DCFCE7">
                <a:alpha val="80000"/>
              </a:srgbClr>
            </a:solidFill>
            <a:prstDash val="solid"/>
          </a:ln>
        </p:spPr>
      </p:sp>
      <p:sp>
        <p:nvSpPr>
          <p:cNvPr id="10" name="Text 8"/>
          <p:cNvSpPr/>
          <p:nvPr/>
        </p:nvSpPr>
        <p:spPr>
          <a:xfrm>
            <a:off x="914400" y="1984248"/>
            <a:ext cx="1691640" cy="164592"/>
          </a:xfrm>
          <a:prstGeom prst="rect">
            <a:avLst/>
          </a:prstGeom>
          <a:noFill/>
          <a:ln/>
        </p:spPr>
        <p:txBody>
          <a:bodyPr wrap="square" lIns="0" tIns="0" rIns="0" bIns="0" rtlCol="0" anchor="ctr">
            <a:normAutofit/>
          </a:bodyPr>
          <a:lstStyle/>
          <a:p>
            <a:pPr algn="ctr" indent="0" marL="0">
              <a:buNone/>
            </a:pPr>
            <a:r>
              <a:rPr lang="en-US" sz="1000" b="1" dirty="0">
                <a:solidFill>
                  <a:srgbClr val="DCFCE7"/>
                </a:solidFill>
                <a:latin typeface="Aptos" pitchFamily="34" charset="0"/>
                <a:ea typeface="Aptos" pitchFamily="34" charset="-122"/>
                <a:cs typeface="Aptos" pitchFamily="34" charset="-120"/>
              </a:rPr>
              <a:t>High Priority</a:t>
            </a:r>
            <a:endParaRPr lang="en-US" sz="1000" dirty="0"/>
          </a:p>
        </p:txBody>
      </p:sp>
      <p:sp>
        <p:nvSpPr>
          <p:cNvPr id="11" name="Text 9"/>
          <p:cNvSpPr/>
          <p:nvPr/>
        </p:nvSpPr>
        <p:spPr>
          <a:xfrm>
            <a:off x="3063240" y="1892808"/>
            <a:ext cx="3520440" cy="329184"/>
          </a:xfrm>
          <a:prstGeom prst="rect">
            <a:avLst/>
          </a:prstGeom>
          <a:noFill/>
          <a:ln/>
        </p:spPr>
        <p:txBody>
          <a:bodyPr wrap="square" lIns="0" tIns="0" rIns="0" bIns="0" rtlCol="0" anchor="ctr">
            <a:normAutofit/>
          </a:bodyPr>
          <a:lstStyle/>
          <a:p>
            <a:pPr indent="0" marL="0">
              <a:buNone/>
            </a:pPr>
            <a:r>
              <a:rPr lang="en-US" sz="1000" dirty="0">
                <a:solidFill>
                  <a:srgbClr val="374151"/>
                </a:solidFill>
                <a:latin typeface="Aptos" pitchFamily="34" charset="0"/>
                <a:ea typeface="Aptos" pitchFamily="34" charset="-122"/>
                <a:cs typeface="Aptos" pitchFamily="34" charset="-120"/>
              </a:rPr>
              <a:t>Strong scores, good engagement, advanced funnel progress</a:t>
            </a:r>
            <a:endParaRPr lang="en-US" sz="1000" dirty="0"/>
          </a:p>
        </p:txBody>
      </p:sp>
      <p:sp>
        <p:nvSpPr>
          <p:cNvPr id="12" name="Shape 10"/>
          <p:cNvSpPr/>
          <p:nvPr/>
        </p:nvSpPr>
        <p:spPr>
          <a:xfrm>
            <a:off x="6812280" y="2084832"/>
            <a:ext cx="914400" cy="0"/>
          </a:xfrm>
          <a:prstGeom prst="line">
            <a:avLst/>
          </a:prstGeom>
          <a:noFill/>
          <a:ln w="12700">
            <a:solidFill>
              <a:srgbClr val="E5E7EB"/>
            </a:solidFill>
            <a:prstDash val="solid"/>
            <a:tailEnd type="triangle"/>
          </a:ln>
        </p:spPr>
      </p:sp>
      <p:sp>
        <p:nvSpPr>
          <p:cNvPr id="13" name="Text 11"/>
          <p:cNvSpPr/>
          <p:nvPr/>
        </p:nvSpPr>
        <p:spPr>
          <a:xfrm>
            <a:off x="8001000" y="1883664"/>
            <a:ext cx="3200400" cy="329184"/>
          </a:xfrm>
          <a:prstGeom prst="rect">
            <a:avLst/>
          </a:prstGeom>
          <a:noFill/>
          <a:ln/>
        </p:spPr>
        <p:txBody>
          <a:bodyPr wrap="square" lIns="0" tIns="0" rIns="0" bIns="0" rtlCol="0" anchor="ctr">
            <a:normAutofit/>
          </a:bodyPr>
          <a:lstStyle/>
          <a:p>
            <a:pPr indent="0" marL="0">
              <a:buNone/>
            </a:pPr>
            <a:r>
              <a:rPr lang="en-US" sz="1020" b="1" dirty="0">
                <a:solidFill>
                  <a:srgbClr val="111827"/>
                </a:solidFill>
                <a:latin typeface="Aptos" pitchFamily="34" charset="0"/>
                <a:ea typeface="Aptos" pitchFamily="34" charset="-122"/>
                <a:cs typeface="Aptos" pitchFamily="34" charset="-120"/>
              </a:rPr>
              <a:t>Prioritize follow-up and keep moving quickly.</a:t>
            </a:r>
            <a:endParaRPr lang="en-US" sz="1020" dirty="0"/>
          </a:p>
        </p:txBody>
      </p:sp>
      <p:sp>
        <p:nvSpPr>
          <p:cNvPr id="14" name="Shape 12"/>
          <p:cNvSpPr/>
          <p:nvPr/>
        </p:nvSpPr>
        <p:spPr>
          <a:xfrm>
            <a:off x="777240" y="2697480"/>
            <a:ext cx="1965960" cy="502920"/>
          </a:xfrm>
          <a:prstGeom prst="roundRect">
            <a:avLst>
              <a:gd name="adj" fmla="val 10909"/>
            </a:avLst>
          </a:prstGeom>
          <a:solidFill>
            <a:srgbClr val="000000"/>
          </a:solidFill>
          <a:ln w="12700">
            <a:solidFill>
              <a:srgbClr val="DBEAFE">
                <a:alpha val="80000"/>
              </a:srgbClr>
            </a:solidFill>
            <a:prstDash val="solid"/>
          </a:ln>
        </p:spPr>
      </p:sp>
      <p:sp>
        <p:nvSpPr>
          <p:cNvPr id="15" name="Text 13"/>
          <p:cNvSpPr/>
          <p:nvPr/>
        </p:nvSpPr>
        <p:spPr>
          <a:xfrm>
            <a:off x="914400" y="2852928"/>
            <a:ext cx="1691640" cy="164592"/>
          </a:xfrm>
          <a:prstGeom prst="rect">
            <a:avLst/>
          </a:prstGeom>
          <a:noFill/>
          <a:ln/>
        </p:spPr>
        <p:txBody>
          <a:bodyPr wrap="square" lIns="0" tIns="0" rIns="0" bIns="0" rtlCol="0" anchor="ctr">
            <a:normAutofit/>
          </a:bodyPr>
          <a:lstStyle/>
          <a:p>
            <a:pPr algn="ctr" indent="0" marL="0">
              <a:buNone/>
            </a:pPr>
            <a:r>
              <a:rPr lang="en-US" sz="1000" b="1" dirty="0">
                <a:solidFill>
                  <a:srgbClr val="DBEAFE"/>
                </a:solidFill>
                <a:latin typeface="Aptos" pitchFamily="34" charset="0"/>
                <a:ea typeface="Aptos" pitchFamily="34" charset="-122"/>
                <a:cs typeface="Aptos" pitchFamily="34" charset="-120"/>
              </a:rPr>
              <a:t>Nurture</a:t>
            </a:r>
            <a:endParaRPr lang="en-US" sz="1000" dirty="0"/>
          </a:p>
        </p:txBody>
      </p:sp>
      <p:sp>
        <p:nvSpPr>
          <p:cNvPr id="16" name="Text 14"/>
          <p:cNvSpPr/>
          <p:nvPr/>
        </p:nvSpPr>
        <p:spPr>
          <a:xfrm>
            <a:off x="3063240" y="2761488"/>
            <a:ext cx="3520440" cy="329184"/>
          </a:xfrm>
          <a:prstGeom prst="rect">
            <a:avLst/>
          </a:prstGeom>
          <a:noFill/>
          <a:ln/>
        </p:spPr>
        <p:txBody>
          <a:bodyPr wrap="square" lIns="0" tIns="0" rIns="0" bIns="0" rtlCol="0" anchor="ctr">
            <a:normAutofit/>
          </a:bodyPr>
          <a:lstStyle/>
          <a:p>
            <a:pPr indent="0" marL="0">
              <a:buNone/>
            </a:pPr>
            <a:r>
              <a:rPr lang="en-US" sz="1000" dirty="0">
                <a:solidFill>
                  <a:srgbClr val="374151"/>
                </a:solidFill>
                <a:latin typeface="Aptos" pitchFamily="34" charset="0"/>
                <a:ea typeface="Aptos" pitchFamily="34" charset="-122"/>
                <a:cs typeface="Aptos" pitchFamily="34" charset="-120"/>
              </a:rPr>
              <a:t>Positive signals, but timing or availability constraints</a:t>
            </a:r>
            <a:endParaRPr lang="en-US" sz="1000" dirty="0"/>
          </a:p>
        </p:txBody>
      </p:sp>
      <p:sp>
        <p:nvSpPr>
          <p:cNvPr id="17" name="Shape 15"/>
          <p:cNvSpPr/>
          <p:nvPr/>
        </p:nvSpPr>
        <p:spPr>
          <a:xfrm>
            <a:off x="6812280" y="2953512"/>
            <a:ext cx="914400" cy="0"/>
          </a:xfrm>
          <a:prstGeom prst="line">
            <a:avLst/>
          </a:prstGeom>
          <a:noFill/>
          <a:ln w="12700">
            <a:solidFill>
              <a:srgbClr val="E5E7EB"/>
            </a:solidFill>
            <a:prstDash val="solid"/>
            <a:tailEnd type="triangle"/>
          </a:ln>
        </p:spPr>
      </p:sp>
      <p:sp>
        <p:nvSpPr>
          <p:cNvPr id="18" name="Text 16"/>
          <p:cNvSpPr/>
          <p:nvPr/>
        </p:nvSpPr>
        <p:spPr>
          <a:xfrm>
            <a:off x="8001000" y="2752344"/>
            <a:ext cx="3200400" cy="329184"/>
          </a:xfrm>
          <a:prstGeom prst="rect">
            <a:avLst/>
          </a:prstGeom>
          <a:noFill/>
          <a:ln/>
        </p:spPr>
        <p:txBody>
          <a:bodyPr wrap="square" lIns="0" tIns="0" rIns="0" bIns="0" rtlCol="0" anchor="ctr">
            <a:normAutofit/>
          </a:bodyPr>
          <a:lstStyle/>
          <a:p>
            <a:pPr indent="0" marL="0">
              <a:buNone/>
            </a:pPr>
            <a:r>
              <a:rPr lang="en-US" sz="1020" b="1" dirty="0">
                <a:solidFill>
                  <a:srgbClr val="111827"/>
                </a:solidFill>
                <a:latin typeface="Aptos" pitchFamily="34" charset="0"/>
                <a:ea typeface="Aptos" pitchFamily="34" charset="-122"/>
                <a:cs typeface="Aptos" pitchFamily="34" charset="-120"/>
              </a:rPr>
              <a:t>Keep warm for future opportunities.</a:t>
            </a:r>
            <a:endParaRPr lang="en-US" sz="1020" dirty="0"/>
          </a:p>
        </p:txBody>
      </p:sp>
      <p:sp>
        <p:nvSpPr>
          <p:cNvPr id="19" name="Shape 17"/>
          <p:cNvSpPr/>
          <p:nvPr/>
        </p:nvSpPr>
        <p:spPr>
          <a:xfrm>
            <a:off x="777240" y="3566160"/>
            <a:ext cx="1965960" cy="502920"/>
          </a:xfrm>
          <a:prstGeom prst="roundRect">
            <a:avLst>
              <a:gd name="adj" fmla="val 10909"/>
            </a:avLst>
          </a:prstGeom>
          <a:solidFill>
            <a:srgbClr val="000000"/>
          </a:solidFill>
          <a:ln w="12700">
            <a:solidFill>
              <a:srgbClr val="FFEDD5">
                <a:alpha val="80000"/>
              </a:srgbClr>
            </a:solidFill>
            <a:prstDash val="solid"/>
          </a:ln>
        </p:spPr>
      </p:sp>
      <p:sp>
        <p:nvSpPr>
          <p:cNvPr id="20" name="Text 18"/>
          <p:cNvSpPr/>
          <p:nvPr/>
        </p:nvSpPr>
        <p:spPr>
          <a:xfrm>
            <a:off x="914400" y="3721608"/>
            <a:ext cx="1691640" cy="164592"/>
          </a:xfrm>
          <a:prstGeom prst="rect">
            <a:avLst/>
          </a:prstGeom>
          <a:noFill/>
          <a:ln/>
        </p:spPr>
        <p:txBody>
          <a:bodyPr wrap="square" lIns="0" tIns="0" rIns="0" bIns="0" rtlCol="0" anchor="ctr">
            <a:normAutofit/>
          </a:bodyPr>
          <a:lstStyle/>
          <a:p>
            <a:pPr algn="ctr" indent="0" marL="0">
              <a:buNone/>
            </a:pPr>
            <a:r>
              <a:rPr lang="en-US" sz="1000" b="1" dirty="0">
                <a:solidFill>
                  <a:srgbClr val="FFEDD5"/>
                </a:solidFill>
                <a:latin typeface="Aptos" pitchFamily="34" charset="0"/>
                <a:ea typeface="Aptos" pitchFamily="34" charset="-122"/>
                <a:cs typeface="Aptos" pitchFamily="34" charset="-120"/>
              </a:rPr>
              <a:t>Risk / Validate Early</a:t>
            </a:r>
            <a:endParaRPr lang="en-US" sz="1000" dirty="0"/>
          </a:p>
        </p:txBody>
      </p:sp>
      <p:sp>
        <p:nvSpPr>
          <p:cNvPr id="21" name="Text 19"/>
          <p:cNvSpPr/>
          <p:nvPr/>
        </p:nvSpPr>
        <p:spPr>
          <a:xfrm>
            <a:off x="3063240" y="3630168"/>
            <a:ext cx="3520440" cy="329184"/>
          </a:xfrm>
          <a:prstGeom prst="rect">
            <a:avLst/>
          </a:prstGeom>
          <a:noFill/>
          <a:ln/>
        </p:spPr>
        <p:txBody>
          <a:bodyPr wrap="square" lIns="0" tIns="0" rIns="0" bIns="0" rtlCol="0" anchor="ctr">
            <a:normAutofit/>
          </a:bodyPr>
          <a:lstStyle/>
          <a:p>
            <a:pPr indent="0" marL="0">
              <a:buNone/>
            </a:pPr>
            <a:r>
              <a:rPr lang="en-US" sz="1000" dirty="0">
                <a:solidFill>
                  <a:srgbClr val="374151"/>
                </a:solidFill>
                <a:latin typeface="Aptos" pitchFamily="34" charset="0"/>
                <a:ea typeface="Aptos" pitchFamily="34" charset="-122"/>
                <a:cs typeface="Aptos" pitchFamily="34" charset="-120"/>
              </a:rPr>
              <a:t>Salary concern, unclear motivation, mixed signals</a:t>
            </a:r>
            <a:endParaRPr lang="en-US" sz="1000" dirty="0"/>
          </a:p>
        </p:txBody>
      </p:sp>
      <p:sp>
        <p:nvSpPr>
          <p:cNvPr id="22" name="Shape 20"/>
          <p:cNvSpPr/>
          <p:nvPr/>
        </p:nvSpPr>
        <p:spPr>
          <a:xfrm>
            <a:off x="6812280" y="3822192"/>
            <a:ext cx="914400" cy="0"/>
          </a:xfrm>
          <a:prstGeom prst="line">
            <a:avLst/>
          </a:prstGeom>
          <a:noFill/>
          <a:ln w="12700">
            <a:solidFill>
              <a:srgbClr val="E5E7EB"/>
            </a:solidFill>
            <a:prstDash val="solid"/>
            <a:tailEnd type="triangle"/>
          </a:ln>
        </p:spPr>
      </p:sp>
      <p:sp>
        <p:nvSpPr>
          <p:cNvPr id="23" name="Text 21"/>
          <p:cNvSpPr/>
          <p:nvPr/>
        </p:nvSpPr>
        <p:spPr>
          <a:xfrm>
            <a:off x="8001000" y="3621024"/>
            <a:ext cx="3200400" cy="329184"/>
          </a:xfrm>
          <a:prstGeom prst="rect">
            <a:avLst/>
          </a:prstGeom>
          <a:noFill/>
          <a:ln/>
        </p:spPr>
        <p:txBody>
          <a:bodyPr wrap="square" lIns="0" tIns="0" rIns="0" bIns="0" rtlCol="0" anchor="ctr">
            <a:normAutofit/>
          </a:bodyPr>
          <a:lstStyle/>
          <a:p>
            <a:pPr indent="0" marL="0">
              <a:buNone/>
            </a:pPr>
            <a:r>
              <a:rPr lang="en-US" sz="1020" b="1" dirty="0">
                <a:solidFill>
                  <a:srgbClr val="111827"/>
                </a:solidFill>
                <a:latin typeface="Aptos" pitchFamily="34" charset="0"/>
                <a:ea typeface="Aptos" pitchFamily="34" charset="-122"/>
                <a:cs typeface="Aptos" pitchFamily="34" charset="-120"/>
              </a:rPr>
              <a:t>Clarify risk before investing more time.</a:t>
            </a:r>
            <a:endParaRPr lang="en-US" sz="1020" dirty="0"/>
          </a:p>
        </p:txBody>
      </p:sp>
      <p:sp>
        <p:nvSpPr>
          <p:cNvPr id="24" name="Shape 22"/>
          <p:cNvSpPr/>
          <p:nvPr/>
        </p:nvSpPr>
        <p:spPr>
          <a:xfrm>
            <a:off x="777240" y="4434840"/>
            <a:ext cx="1965960" cy="502920"/>
          </a:xfrm>
          <a:prstGeom prst="roundRect">
            <a:avLst>
              <a:gd name="adj" fmla="val 10909"/>
            </a:avLst>
          </a:prstGeom>
          <a:solidFill>
            <a:srgbClr val="000000"/>
          </a:solidFill>
          <a:ln w="12700">
            <a:solidFill>
              <a:srgbClr val="FEE2E2">
                <a:alpha val="80000"/>
              </a:srgbClr>
            </a:solidFill>
            <a:prstDash val="solid"/>
          </a:ln>
        </p:spPr>
      </p:sp>
      <p:sp>
        <p:nvSpPr>
          <p:cNvPr id="25" name="Text 23"/>
          <p:cNvSpPr/>
          <p:nvPr/>
        </p:nvSpPr>
        <p:spPr>
          <a:xfrm>
            <a:off x="914400" y="4590288"/>
            <a:ext cx="1691640" cy="164592"/>
          </a:xfrm>
          <a:prstGeom prst="rect">
            <a:avLst/>
          </a:prstGeom>
          <a:noFill/>
          <a:ln/>
        </p:spPr>
        <p:txBody>
          <a:bodyPr wrap="square" lIns="0" tIns="0" rIns="0" bIns="0" rtlCol="0" anchor="ctr">
            <a:normAutofit/>
          </a:bodyPr>
          <a:lstStyle/>
          <a:p>
            <a:pPr algn="ctr" indent="0" marL="0">
              <a:buNone/>
            </a:pPr>
            <a:r>
              <a:rPr lang="en-US" sz="1000" b="1" dirty="0">
                <a:solidFill>
                  <a:srgbClr val="FEE2E2"/>
                </a:solidFill>
                <a:latin typeface="Aptos" pitchFamily="34" charset="0"/>
                <a:ea typeface="Aptos" pitchFamily="34" charset="-122"/>
                <a:cs typeface="Aptos" pitchFamily="34" charset="-120"/>
              </a:rPr>
              <a:t>Low Probability</a:t>
            </a:r>
            <a:endParaRPr lang="en-US" sz="1000" dirty="0"/>
          </a:p>
        </p:txBody>
      </p:sp>
      <p:sp>
        <p:nvSpPr>
          <p:cNvPr id="26" name="Text 24"/>
          <p:cNvSpPr/>
          <p:nvPr/>
        </p:nvSpPr>
        <p:spPr>
          <a:xfrm>
            <a:off x="3063240" y="4498848"/>
            <a:ext cx="3520440" cy="329184"/>
          </a:xfrm>
          <a:prstGeom prst="rect">
            <a:avLst/>
          </a:prstGeom>
          <a:noFill/>
          <a:ln/>
        </p:spPr>
        <p:txBody>
          <a:bodyPr wrap="square" lIns="0" tIns="0" rIns="0" bIns="0" rtlCol="0" anchor="ctr">
            <a:normAutofit/>
          </a:bodyPr>
          <a:lstStyle/>
          <a:p>
            <a:pPr indent="0" marL="0">
              <a:buNone/>
            </a:pPr>
            <a:r>
              <a:rPr lang="en-US" sz="1000" dirty="0">
                <a:solidFill>
                  <a:srgbClr val="374151"/>
                </a:solidFill>
                <a:latin typeface="Aptos" pitchFamily="34" charset="0"/>
                <a:ea typeface="Aptos" pitchFamily="34" charset="-122"/>
                <a:cs typeface="Aptos" pitchFamily="34" charset="-120"/>
              </a:rPr>
              <a:t>No response, failed assessment, low fit, repeated low engagement</a:t>
            </a:r>
            <a:endParaRPr lang="en-US" sz="1000" dirty="0"/>
          </a:p>
        </p:txBody>
      </p:sp>
      <p:sp>
        <p:nvSpPr>
          <p:cNvPr id="27" name="Shape 25"/>
          <p:cNvSpPr/>
          <p:nvPr/>
        </p:nvSpPr>
        <p:spPr>
          <a:xfrm>
            <a:off x="6812280" y="4690872"/>
            <a:ext cx="914400" cy="0"/>
          </a:xfrm>
          <a:prstGeom prst="line">
            <a:avLst/>
          </a:prstGeom>
          <a:noFill/>
          <a:ln w="12700">
            <a:solidFill>
              <a:srgbClr val="E5E7EB"/>
            </a:solidFill>
            <a:prstDash val="solid"/>
            <a:tailEnd type="triangle"/>
          </a:ln>
        </p:spPr>
      </p:sp>
      <p:sp>
        <p:nvSpPr>
          <p:cNvPr id="28" name="Text 26"/>
          <p:cNvSpPr/>
          <p:nvPr/>
        </p:nvSpPr>
        <p:spPr>
          <a:xfrm>
            <a:off x="8001000" y="4489704"/>
            <a:ext cx="3200400" cy="329184"/>
          </a:xfrm>
          <a:prstGeom prst="rect">
            <a:avLst/>
          </a:prstGeom>
          <a:noFill/>
          <a:ln/>
        </p:spPr>
        <p:txBody>
          <a:bodyPr wrap="square" lIns="0" tIns="0" rIns="0" bIns="0" rtlCol="0" anchor="ctr">
            <a:normAutofit/>
          </a:bodyPr>
          <a:lstStyle/>
          <a:p>
            <a:pPr indent="0" marL="0">
              <a:buNone/>
            </a:pPr>
            <a:r>
              <a:rPr lang="en-US" sz="1020" b="1" dirty="0">
                <a:solidFill>
                  <a:srgbClr val="111827"/>
                </a:solidFill>
                <a:latin typeface="Aptos" pitchFamily="34" charset="0"/>
                <a:ea typeface="Aptos" pitchFamily="34" charset="-122"/>
                <a:cs typeface="Aptos" pitchFamily="34" charset="-120"/>
              </a:rPr>
              <a:t>Deprioritize unless new information appears.</a:t>
            </a:r>
            <a:endParaRPr lang="en-US" sz="1020" dirty="0"/>
          </a:p>
        </p:txBody>
      </p:sp>
      <p:sp>
        <p:nvSpPr>
          <p:cNvPr id="29" name="Shape 27"/>
          <p:cNvSpPr/>
          <p:nvPr/>
        </p:nvSpPr>
        <p:spPr>
          <a:xfrm>
            <a:off x="777240" y="5486400"/>
            <a:ext cx="10378440" cy="0"/>
          </a:xfrm>
          <a:prstGeom prst="line">
            <a:avLst/>
          </a:prstGeom>
          <a:noFill/>
          <a:ln w="12700">
            <a:solidFill>
              <a:srgbClr val="E5E7EB"/>
            </a:solidFill>
            <a:prstDash val="solid"/>
          </a:ln>
        </p:spPr>
      </p:sp>
      <p:sp>
        <p:nvSpPr>
          <p:cNvPr id="30" name="Text 28"/>
          <p:cNvSpPr/>
          <p:nvPr/>
        </p:nvSpPr>
        <p:spPr>
          <a:xfrm>
            <a:off x="777240" y="5687568"/>
            <a:ext cx="9921240" cy="329184"/>
          </a:xfrm>
          <a:prstGeom prst="rect">
            <a:avLst/>
          </a:prstGeom>
          <a:noFill/>
          <a:ln/>
        </p:spPr>
        <p:txBody>
          <a:bodyPr wrap="square" lIns="0" tIns="0" rIns="0" bIns="0" rtlCol="0" anchor="ctr">
            <a:normAutofit/>
          </a:bodyPr>
          <a:lstStyle/>
          <a:p>
            <a:pPr indent="0" marL="0">
              <a:buNone/>
            </a:pPr>
            <a:r>
              <a:rPr lang="en-US" sz="1160" b="1" dirty="0">
                <a:solidFill>
                  <a:srgbClr val="111827"/>
                </a:solidFill>
                <a:latin typeface="Aptos" pitchFamily="34" charset="0"/>
                <a:ea typeface="Aptos" pitchFamily="34" charset="-122"/>
                <a:cs typeface="Aptos" pitchFamily="34" charset="-120"/>
              </a:rPr>
              <a:t>If expanded, this could become a recruiter decision-support dashboard with prioritization scoring, bottleneck alerts, AI-assisted note tagging, and channel performance monitoring.</a:t>
            </a:r>
            <a:endParaRPr lang="en-US" sz="116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Technical Challenge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Sourcing Analysis with AI</dc:title>
  <dc:subject>Sourcing Analysis with AI</dc:subject>
  <dc:creator>Lays Bloch</dc:creator>
  <cp:lastModifiedBy>Lays Bloch</cp:lastModifiedBy>
  <cp:revision>1</cp:revision>
  <dcterms:created xsi:type="dcterms:W3CDTF">2026-05-18T23:45:40Z</dcterms:created>
  <dcterms:modified xsi:type="dcterms:W3CDTF">2026-05-18T23:45:40Z</dcterms:modified>
</cp:coreProperties>
</file>